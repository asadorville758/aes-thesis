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14"/>
  </p:notesMasterIdLst>
  <p:handoutMasterIdLst>
    <p:handoutMasterId r:id="rId15"/>
  </p:handoutMasterIdLst>
  <p:sldIdLst>
    <p:sldId id="256" r:id="rId2"/>
    <p:sldId id="261" r:id="rId3"/>
    <p:sldId id="259" r:id="rId4"/>
    <p:sldId id="258" r:id="rId5"/>
    <p:sldId id="263" r:id="rId6"/>
    <p:sldId id="264" r:id="rId7"/>
    <p:sldId id="271" r:id="rId8"/>
    <p:sldId id="276" r:id="rId9"/>
    <p:sldId id="274" r:id="rId10"/>
    <p:sldId id="266" r:id="rId11"/>
    <p:sldId id="277" r:id="rId12"/>
    <p:sldId id="260" r:id="rId13"/>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351" autoAdjust="0"/>
  </p:normalViewPr>
  <p:slideViewPr>
    <p:cSldViewPr snapToGrid="0">
      <p:cViewPr varScale="1">
        <p:scale>
          <a:sx n="94" d="100"/>
          <a:sy n="94" d="100"/>
        </p:scale>
        <p:origin x="1230" y="9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6" d="100"/>
          <a:sy n="86" d="100"/>
        </p:scale>
        <p:origin x="311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dgm:spPr/>
      <dgm:t>
        <a:bodyPr rtlCol="0"/>
        <a:lstStyle/>
        <a:p>
          <a:pPr rtl="0">
            <a:lnSpc>
              <a:spcPct val="100000"/>
            </a:lnSpc>
          </a:pPr>
          <a:r>
            <a:rPr lang="en-GB" b="1" dirty="0"/>
            <a:t>Position in the AES pipeline</a:t>
          </a:r>
          <a:r>
            <a:rPr lang="en-GB" noProof="0" dirty="0"/>
            <a:t>	</a:t>
          </a:r>
        </a:p>
      </dgm:t>
    </dgm:pt>
    <dgm:pt modelId="{720680DC-AAA4-4434-A582-60EBCC5BA355}" type="parTrans" cxnId="{0B5DAE5F-BCDC-4BF7-A6E7-CF856886A64D}">
      <dgm:prSet/>
      <dgm:spPr/>
      <dgm:t>
        <a:bodyPr rtlCol="0"/>
        <a:lstStyle/>
        <a:p>
          <a:pPr rtl="0"/>
          <a:endParaRPr lang="en-GB" noProof="0" dirty="0"/>
        </a:p>
      </dgm:t>
    </dgm:pt>
    <dgm:pt modelId="{CA077D98-8478-47EA-B6A9-99ACE60C64D4}" type="sibTrans" cxnId="{0B5DAE5F-BCDC-4BF7-A6E7-CF856886A64D}">
      <dgm:prSet/>
      <dgm:spPr/>
      <dgm:t>
        <a:bodyPr rtlCol="0"/>
        <a:lstStyle/>
        <a:p>
          <a:pPr rtl="0"/>
          <a:endParaRPr lang="en-GB" noProof="0" dirty="0"/>
        </a:p>
      </dgm:t>
    </dgm:pt>
    <dgm:pt modelId="{0BEF68B8-1228-47BB-83B5-7B9CD1E3F84E}">
      <dgm:prSet phldrT="[Text]"/>
      <dgm:spPr/>
      <dgm:t>
        <a:bodyPr rtlCol="0"/>
        <a:lstStyle/>
        <a:p>
          <a:pPr rtl="0">
            <a:lnSpc>
              <a:spcPct val="100000"/>
            </a:lnSpc>
          </a:pPr>
          <a:r>
            <a:rPr lang="en-GB" b="1" dirty="0"/>
            <a:t>Error Propagation</a:t>
          </a:r>
          <a:endParaRPr lang="en-GB" noProof="0" dirty="0"/>
        </a:p>
      </dgm:t>
    </dgm:pt>
    <dgm:pt modelId="{ED3A4BC2-B75A-4952-A38B-A42B5995DF05}" type="parTrans" cxnId="{EDEF4F82-1237-4639-A0F7-385C1897CE66}">
      <dgm:prSet/>
      <dgm:spPr/>
      <dgm:t>
        <a:bodyPr rtlCol="0"/>
        <a:lstStyle/>
        <a:p>
          <a:pPr rtl="0"/>
          <a:endParaRPr lang="en-GB" noProof="0" dirty="0"/>
        </a:p>
      </dgm:t>
    </dgm:pt>
    <dgm:pt modelId="{FD949706-EDCC-4ADC-8EDF-8EDA49C92325}" type="sibTrans" cxnId="{EDEF4F82-1237-4639-A0F7-385C1897CE66}">
      <dgm:prSet/>
      <dgm:spPr/>
      <dgm:t>
        <a:bodyPr rtlCol="0"/>
        <a:lstStyle/>
        <a:p>
          <a:pPr rtl="0"/>
          <a:endParaRPr lang="en-GB" noProof="0" dirty="0"/>
        </a:p>
      </dgm:t>
    </dgm:pt>
    <dgm:pt modelId="{5605D28D-2CE6-4513-8566-952984E21E14}">
      <dgm:prSet phldrT="[Text]"/>
      <dgm:spPr/>
      <dgm:t>
        <a:bodyPr rtlCol="0"/>
        <a:lstStyle/>
        <a:p>
          <a:pPr rtl="0">
            <a:lnSpc>
              <a:spcPct val="100000"/>
            </a:lnSpc>
          </a:pPr>
          <a:r>
            <a:rPr lang="en-GB" b="1" dirty="0"/>
            <a:t>Controlled experimentation</a:t>
          </a:r>
          <a:endParaRPr lang="en-GB" noProof="0" dirty="0"/>
        </a:p>
      </dgm:t>
    </dgm:pt>
    <dgm:pt modelId="{EB15AB98-362B-4E70-A3DA-995FC3E8BA79}" type="parTrans" cxnId="{FAF3F884-F0CF-440F-8CB1-B7648AB1B138}">
      <dgm:prSet/>
      <dgm:spPr/>
      <dgm:t>
        <a:bodyPr rtlCol="0"/>
        <a:lstStyle/>
        <a:p>
          <a:pPr rtl="0"/>
          <a:endParaRPr lang="en-GB" noProof="0" dirty="0"/>
        </a:p>
      </dgm:t>
    </dgm:pt>
    <dgm:pt modelId="{823D1971-2C4D-4EC5-A874-2F463DE37109}" type="sibTrans" cxnId="{FAF3F884-F0CF-440F-8CB1-B7648AB1B138}">
      <dgm:prSet/>
      <dgm:spPr/>
      <dgm:t>
        <a:bodyPr rtlCol="0"/>
        <a:lstStyle/>
        <a:p>
          <a:pPr rtl="0"/>
          <a:endParaRPr lang="en-GB" noProof="0" dirty="0"/>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3"/>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3"/>
      <dgm:spPr/>
    </dgm:pt>
    <dgm:pt modelId="{429CABD1-4116-474B-81BF-735E2CA9DD00}" type="pres">
      <dgm:prSet presAssocID="{7E5AA53B-3EEE-4DE4-BB81-9044890C2946}" presName="dstNode" presStyleLbl="node1" presStyleIdx="0" presStyleCnt="3"/>
      <dgm:spPr/>
    </dgm:pt>
    <dgm:pt modelId="{58319267-C71E-43C9-94E1-827D0616C7A7}" type="pres">
      <dgm:prSet presAssocID="{6750AC01-D39D-4F3A-9DC8-2A211EE986A2}" presName="text_1" presStyleLbl="node1" presStyleIdx="0" presStyleCnt="3">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3"/>
      <dgm:spPr/>
    </dgm:pt>
    <dgm:pt modelId="{95DE6538-27BD-44AF-A1A8-CA8F6B10FDD2}" type="pres">
      <dgm:prSet presAssocID="{0BEF68B8-1228-47BB-83B5-7B9CD1E3F84E}" presName="text_2" presStyleLbl="node1" presStyleIdx="1" presStyleCnt="3">
        <dgm:presLayoutVars>
          <dgm:bulletEnabled val="1"/>
        </dgm:presLayoutVars>
      </dgm:prSet>
      <dgm:spPr/>
    </dgm:pt>
    <dgm:pt modelId="{312BDEE8-85BD-4F02-B35B-2CC8E701C98B}" type="pres">
      <dgm:prSet presAssocID="{0BEF68B8-1228-47BB-83B5-7B9CD1E3F84E}" presName="accent_2" presStyleCnt="0"/>
      <dgm:spPr/>
    </dgm:pt>
    <dgm:pt modelId="{3F8116AC-FAC3-4E95-9865-93CCFEB191B9}" type="pres">
      <dgm:prSet presAssocID="{0BEF68B8-1228-47BB-83B5-7B9CD1E3F84E}" presName="accentRepeatNode" presStyleLbl="solidFgAcc1" presStyleIdx="1" presStyleCnt="3"/>
      <dgm:spPr/>
    </dgm:pt>
    <dgm:pt modelId="{E131CE4A-9776-44F4-BC03-867682E21374}" type="pres">
      <dgm:prSet presAssocID="{5605D28D-2CE6-4513-8566-952984E21E14}" presName="text_3" presStyleLbl="node1" presStyleIdx="2" presStyleCnt="3">
        <dgm:presLayoutVars>
          <dgm:bulletEnabled val="1"/>
        </dgm:presLayoutVars>
      </dgm:prSet>
      <dgm:spPr/>
    </dgm:pt>
    <dgm:pt modelId="{AC9A216A-8375-48F9-A4E6-8E0B64C0209B}" type="pres">
      <dgm:prSet presAssocID="{5605D28D-2CE6-4513-8566-952984E21E14}" presName="accent_3" presStyleCnt="0"/>
      <dgm:spPr/>
    </dgm:pt>
    <dgm:pt modelId="{A965097E-32F1-4AB8-8C4E-2814A7596B2F}" type="pres">
      <dgm:prSet presAssocID="{5605D28D-2CE6-4513-8566-952984E21E14}" presName="accentRepeatNode" presStyleLbl="solidFgAcc1" presStyleIdx="2" presStyleCnt="3"/>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7084AA77-BACB-46CB-AE4A-77B62D3ED1AF}" type="presOf" srcId="{5605D28D-2CE6-4513-8566-952984E21E14}" destId="{E131CE4A-9776-44F4-BC03-867682E21374}" srcOrd="0" destOrd="0" presId="urn:microsoft.com/office/officeart/2008/layout/VerticalCurvedList"/>
    <dgm:cxn modelId="{EDEF4F82-1237-4639-A0F7-385C1897CE66}" srcId="{7E5AA53B-3EEE-4DE4-BB81-9044890C2946}" destId="{0BEF68B8-1228-47BB-83B5-7B9CD1E3F84E}" srcOrd="1" destOrd="0" parTransId="{ED3A4BC2-B75A-4952-A38B-A42B5995DF05}" sibTransId="{FD949706-EDCC-4ADC-8EDF-8EDA49C92325}"/>
    <dgm:cxn modelId="{FAF3F884-F0CF-440F-8CB1-B7648AB1B138}" srcId="{7E5AA53B-3EEE-4DE4-BB81-9044890C2946}" destId="{5605D28D-2CE6-4513-8566-952984E21E14}" srcOrd="2" destOrd="0" parTransId="{EB15AB98-362B-4E70-A3DA-995FC3E8BA79}" sibTransId="{823D1971-2C4D-4EC5-A874-2F463DE37109}"/>
    <dgm:cxn modelId="{4F65CC8F-B5A8-40BE-A32B-05862B543D6A}" type="presOf" srcId="{7E5AA53B-3EEE-4DE4-BB81-9044890C2946}" destId="{57806726-6E60-4ACC-9C1C-7DF9CC365A10}" srcOrd="0" destOrd="0" presId="urn:microsoft.com/office/officeart/2008/layout/VerticalCurvedList"/>
    <dgm:cxn modelId="{4A378892-5CCC-4F0D-8A38-4BEAECF30F24}" type="presOf" srcId="{0BEF68B8-1228-47BB-83B5-7B9CD1E3F84E}" destId="{95DE6538-27BD-44AF-A1A8-CA8F6B10FDD2}"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602753E6-8A03-492B-861A-6B9532B5AA28}" type="presParOf" srcId="{90561C55-3C6E-4D53-85E1-2C50BCDDA392}" destId="{95DE6538-27BD-44AF-A1A8-CA8F6B10FDD2}" srcOrd="3" destOrd="0" presId="urn:microsoft.com/office/officeart/2008/layout/VerticalCurvedList"/>
    <dgm:cxn modelId="{AEC540A3-E86A-4075-8BE4-263F4AFF4EA1}" type="presParOf" srcId="{90561C55-3C6E-4D53-85E1-2C50BCDDA392}" destId="{312BDEE8-85BD-4F02-B35B-2CC8E701C98B}" srcOrd="4" destOrd="0" presId="urn:microsoft.com/office/officeart/2008/layout/VerticalCurvedList"/>
    <dgm:cxn modelId="{CD5D1014-B7CB-4B47-9A02-5FBF90928A73}" type="presParOf" srcId="{312BDEE8-85BD-4F02-B35B-2CC8E701C98B}" destId="{3F8116AC-FAC3-4E95-9865-93CCFEB191B9}" srcOrd="0" destOrd="0" presId="urn:microsoft.com/office/officeart/2008/layout/VerticalCurvedList"/>
    <dgm:cxn modelId="{987EB7C0-CA3E-4874-85E0-01E9060A2D35}" type="presParOf" srcId="{90561C55-3C6E-4D53-85E1-2C50BCDDA392}" destId="{E131CE4A-9776-44F4-BC03-867682E21374}" srcOrd="5" destOrd="0" presId="urn:microsoft.com/office/officeart/2008/layout/VerticalCurvedList"/>
    <dgm:cxn modelId="{91E55363-8DCA-455E-A203-06A9410994CB}" type="presParOf" srcId="{90561C55-3C6E-4D53-85E1-2C50BCDDA392}" destId="{AC9A216A-8375-48F9-A4E6-8E0B64C0209B}" srcOrd="6" destOrd="0" presId="urn:microsoft.com/office/officeart/2008/layout/VerticalCurvedList"/>
    <dgm:cxn modelId="{D866D586-1293-4049-B6E3-B467C1D5ED64}" type="presParOf" srcId="{AC9A216A-8375-48F9-A4E6-8E0B64C0209B}" destId="{A965097E-32F1-4AB8-8C4E-2814A7596B2F}"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496568" y="356393"/>
          <a:ext cx="6310391"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78740" rIns="78740" bIns="78740" numCol="1" spcCol="1270" rtlCol="0" anchor="ctr" anchorCtr="0">
          <a:noAutofit/>
        </a:bodyPr>
        <a:lstStyle/>
        <a:p>
          <a:pPr marL="0" lvl="0" indent="0" algn="l" defTabSz="1377950" rtl="0">
            <a:lnSpc>
              <a:spcPct val="100000"/>
            </a:lnSpc>
            <a:spcBef>
              <a:spcPct val="0"/>
            </a:spcBef>
            <a:spcAft>
              <a:spcPct val="35000"/>
            </a:spcAft>
            <a:buNone/>
          </a:pPr>
          <a:r>
            <a:rPr lang="en-GB" sz="3100" b="1" kern="1200" dirty="0"/>
            <a:t>Position in the AES pipeline</a:t>
          </a:r>
          <a:r>
            <a:rPr lang="en-GB" sz="3100" kern="1200" noProof="0" dirty="0"/>
            <a:t>	</a:t>
          </a:r>
        </a:p>
      </dsp:txBody>
      <dsp:txXfrm>
        <a:off x="496568" y="356393"/>
        <a:ext cx="6310391" cy="712787"/>
      </dsp:txXfrm>
    </dsp:sp>
    <dsp:sp modelId="{07CB3071-D555-47DA-A36A-69EB91531FD8}">
      <dsp:nvSpPr>
        <dsp:cNvPr id="0" name=""/>
        <dsp:cNvSpPr/>
      </dsp:nvSpPr>
      <dsp:spPr>
        <a:xfrm>
          <a:off x="51076" y="267295"/>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5DE6538-27BD-44AF-A1A8-CA8F6B10FDD2}">
      <dsp:nvSpPr>
        <dsp:cNvPr id="0" name=""/>
        <dsp:cNvSpPr/>
      </dsp:nvSpPr>
      <dsp:spPr>
        <a:xfrm>
          <a:off x="755666" y="1425575"/>
          <a:ext cx="6051292"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78740" rIns="78740" bIns="78740" numCol="1" spcCol="1270" rtlCol="0" anchor="ctr" anchorCtr="0">
          <a:noAutofit/>
        </a:bodyPr>
        <a:lstStyle/>
        <a:p>
          <a:pPr marL="0" lvl="0" indent="0" algn="l" defTabSz="1377950" rtl="0">
            <a:lnSpc>
              <a:spcPct val="100000"/>
            </a:lnSpc>
            <a:spcBef>
              <a:spcPct val="0"/>
            </a:spcBef>
            <a:spcAft>
              <a:spcPct val="35000"/>
            </a:spcAft>
            <a:buNone/>
          </a:pPr>
          <a:r>
            <a:rPr lang="en-GB" sz="3100" b="1" kern="1200" dirty="0"/>
            <a:t>Error Propagation</a:t>
          </a:r>
          <a:endParaRPr lang="en-GB" sz="3100" kern="1200" noProof="0" dirty="0"/>
        </a:p>
      </dsp:txBody>
      <dsp:txXfrm>
        <a:off x="755666" y="1425575"/>
        <a:ext cx="6051292" cy="712787"/>
      </dsp:txXfrm>
    </dsp:sp>
    <dsp:sp modelId="{3F8116AC-FAC3-4E95-9865-93CCFEB191B9}">
      <dsp:nvSpPr>
        <dsp:cNvPr id="0" name=""/>
        <dsp:cNvSpPr/>
      </dsp:nvSpPr>
      <dsp:spPr>
        <a:xfrm>
          <a:off x="310174" y="1336476"/>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131CE4A-9776-44F4-BC03-867682E21374}">
      <dsp:nvSpPr>
        <dsp:cNvPr id="0" name=""/>
        <dsp:cNvSpPr/>
      </dsp:nvSpPr>
      <dsp:spPr>
        <a:xfrm>
          <a:off x="496568" y="2494756"/>
          <a:ext cx="6310391"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78740" rIns="78740" bIns="78740" numCol="1" spcCol="1270" rtlCol="0" anchor="ctr" anchorCtr="0">
          <a:noAutofit/>
        </a:bodyPr>
        <a:lstStyle/>
        <a:p>
          <a:pPr marL="0" lvl="0" indent="0" algn="l" defTabSz="1377950" rtl="0">
            <a:lnSpc>
              <a:spcPct val="100000"/>
            </a:lnSpc>
            <a:spcBef>
              <a:spcPct val="0"/>
            </a:spcBef>
            <a:spcAft>
              <a:spcPct val="35000"/>
            </a:spcAft>
            <a:buNone/>
          </a:pPr>
          <a:r>
            <a:rPr lang="en-GB" sz="3100" b="1" kern="1200" dirty="0"/>
            <a:t>Controlled experimentation</a:t>
          </a:r>
          <a:endParaRPr lang="en-GB" sz="3100" kern="1200" noProof="0" dirty="0"/>
        </a:p>
      </dsp:txBody>
      <dsp:txXfrm>
        <a:off x="496568" y="2494756"/>
        <a:ext cx="6310391" cy="712787"/>
      </dsp:txXfrm>
    </dsp:sp>
    <dsp:sp modelId="{A965097E-32F1-4AB8-8C4E-2814A7596B2F}">
      <dsp:nvSpPr>
        <dsp:cNvPr id="0" name=""/>
        <dsp:cNvSpPr/>
      </dsp:nvSpPr>
      <dsp:spPr>
        <a:xfrm>
          <a:off x="51076" y="2405658"/>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ADBC529-8773-4D02-8CFA-ADB515C5CBA3}" type="datetime1">
              <a:rPr lang="en-GB" smtClean="0"/>
              <a:t>28/06/2026</a:t>
            </a:fld>
            <a:endParaRPr lang="en-GB"/>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en-GB" smtClean="0"/>
              <a:t>‹#›</a:t>
            </a:fld>
            <a:endParaRPr lang="en-GB"/>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4777525A-FAFB-4452-AC36-0F7189B7A6A9}" type="datetime1">
              <a:rPr lang="en-GB" noProof="0" smtClean="0"/>
              <a:t>28/06/2026</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en-GB" noProof="0" smtClean="0"/>
              <a:t>‹#›</a:t>
            </a:fld>
            <a:endParaRPr lang="en-GB"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en-US" dirty="0"/>
              <a:t>Hello, this is a presentation of my feature prototype for </a:t>
            </a:r>
            <a:r>
              <a:rPr lang="en-US" dirty="0" err="1"/>
              <a:t>BrainPower</a:t>
            </a:r>
            <a:r>
              <a:rPr lang="en-US" dirty="0"/>
              <a:t>, a multi-modal, hybrid, accessible Automated Essay Scoring System. The feature that I will be prototyping is the OCR component. The model is </a:t>
            </a:r>
            <a:r>
              <a:rPr lang="en-US" dirty="0" err="1"/>
              <a:t>paddleOCR</a:t>
            </a:r>
            <a:r>
              <a:rPr lang="en-US" dirty="0"/>
              <a:t> and the objective of this presentation is to determine </a:t>
            </a:r>
            <a:r>
              <a:rPr lang="en-GB" dirty="0" err="1"/>
              <a:t>PaddleOCR’s</a:t>
            </a:r>
            <a:r>
              <a:rPr lang="en-GB" dirty="0"/>
              <a:t> ability to accurately extract handwritten text from an image file </a:t>
            </a:r>
          </a:p>
          <a:p>
            <a:pPr rtl="0"/>
            <a:endParaRPr lang="en-GB" dirty="0"/>
          </a:p>
        </p:txBody>
      </p:sp>
      <p:sp>
        <p:nvSpPr>
          <p:cNvPr id="4" name="Slide Number Placeholder 3"/>
          <p:cNvSpPr>
            <a:spLocks noGrp="1"/>
          </p:cNvSpPr>
          <p:nvPr>
            <p:ph type="sldNum" sz="quarter" idx="5"/>
          </p:nvPr>
        </p:nvSpPr>
        <p:spPr/>
        <p:txBody>
          <a:bodyPr rtlCol="0"/>
          <a:lstStyle/>
          <a:p>
            <a:pPr rtl="0"/>
            <a:fld id="{C6B3AB32-59DF-41F1-9618-EDFBF5049629}" type="slidenum">
              <a:rPr lang="en-GB" smtClean="0"/>
              <a:t>1</a:t>
            </a:fld>
            <a:endParaRPr lang="en-GB"/>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Highlighted in red is the model’s position in the AES pipeline, it facilities handwritten essays input as image files and its output flows to the evaluator unit then to the transformer. </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rtl="0"/>
            <a:endParaRPr lang="en-GB" dirty="0"/>
          </a:p>
        </p:txBody>
      </p:sp>
      <p:sp>
        <p:nvSpPr>
          <p:cNvPr id="4" name="Slide Number Placeholder 3"/>
          <p:cNvSpPr>
            <a:spLocks noGrp="1"/>
          </p:cNvSpPr>
          <p:nvPr>
            <p:ph type="sldNum" sz="quarter" idx="5"/>
          </p:nvPr>
        </p:nvSpPr>
        <p:spPr/>
        <p:txBody>
          <a:bodyPr rtlCol="0"/>
          <a:lstStyle/>
          <a:p>
            <a:pPr rtl="0"/>
            <a:fld id="{C6B3AB32-59DF-41F1-9618-EDFBF5049629}" type="slidenum">
              <a:rPr lang="en-GB" smtClean="0"/>
              <a:t>2</a:t>
            </a:fld>
            <a:endParaRPr lang="en-GB"/>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r>
              <a:rPr lang="en-GB" b="1" dirty="0"/>
              <a:t>Why was this component selected over the Speech-to-text or the Transformer models: Three main reasons</a:t>
            </a:r>
            <a:endParaRPr lang="en-GB" dirty="0"/>
          </a:p>
          <a:p>
            <a:endParaRPr lang="en-GB" dirty="0"/>
          </a:p>
          <a:p>
            <a:pPr lvl="0"/>
            <a:r>
              <a:rPr lang="en-GB" b="1" dirty="0"/>
              <a:t>Its position in the AES pipeline:</a:t>
            </a:r>
            <a:r>
              <a:rPr lang="en-GB" dirty="0"/>
              <a:t>  this represents the first stage in the AES processing pipeline as output from this stage is fed into the Transformer component. </a:t>
            </a:r>
          </a:p>
          <a:p>
            <a:pPr lvl="0"/>
            <a:endParaRPr lang="en-GB" dirty="0"/>
          </a:p>
          <a:p>
            <a:pPr lvl="0"/>
            <a:r>
              <a:rPr lang="en-GB" b="1" dirty="0"/>
              <a:t>Prevention </a:t>
            </a:r>
            <a:r>
              <a:rPr lang="en-GB" b="1" dirty="0" err="1"/>
              <a:t>ofrror</a:t>
            </a:r>
            <a:r>
              <a:rPr lang="en-GB" b="1" dirty="0"/>
              <a:t> Propagation:</a:t>
            </a:r>
            <a:r>
              <a:rPr lang="en-GB" dirty="0"/>
              <a:t> Errors from this component can propagate to the Transformer resulting in inaccurate essay scores.</a:t>
            </a:r>
          </a:p>
          <a:p>
            <a:pPr lvl="0"/>
            <a:endParaRPr lang="en-GB" dirty="0"/>
          </a:p>
          <a:p>
            <a:pPr lvl="0"/>
            <a:r>
              <a:rPr lang="en-GB" b="1" dirty="0"/>
              <a:t>Controlled experimentation:</a:t>
            </a:r>
            <a:r>
              <a:rPr lang="en-GB" dirty="0"/>
              <a:t> the process of handwriting an essay (copying in this case from a reference essay) allows the component to be evaluated under controlled and repeatable conditions.  </a:t>
            </a:r>
          </a:p>
          <a:p>
            <a:pPr rtl="0"/>
            <a:endParaRPr lang="en-GB" dirty="0"/>
          </a:p>
        </p:txBody>
      </p:sp>
      <p:sp>
        <p:nvSpPr>
          <p:cNvPr id="4" name="Slide Number Placeholder 3"/>
          <p:cNvSpPr>
            <a:spLocks noGrp="1"/>
          </p:cNvSpPr>
          <p:nvPr>
            <p:ph type="sldNum" sz="quarter" idx="5"/>
          </p:nvPr>
        </p:nvSpPr>
        <p:spPr/>
        <p:txBody>
          <a:bodyPr rtlCol="0"/>
          <a:lstStyle/>
          <a:p>
            <a:pPr rtl="0"/>
            <a:fld id="{C6B3AB32-59DF-41F1-9618-EDFBF5049629}" type="slidenum">
              <a:rPr lang="en-GB" smtClean="0"/>
              <a:t>3</a:t>
            </a:fld>
            <a:endParaRPr lang="en-GB"/>
          </a:p>
        </p:txBody>
      </p:sp>
    </p:spTree>
    <p:extLst>
      <p:ext uri="{BB962C8B-B14F-4D97-AF65-F5344CB8AC3E}">
        <p14:creationId xmlns:p14="http://schemas.microsoft.com/office/powerpoint/2010/main" val="3505115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first two paragraphs of the essay titled: Exploring Venus from the ASAP 2.0 dataset. This reference essay will be handwritten and the samples used to evaluate the performance of the OCR component. </a:t>
            </a:r>
            <a:endParaRPr lang="en-GB" dirty="0"/>
          </a:p>
        </p:txBody>
      </p:sp>
      <p:sp>
        <p:nvSpPr>
          <p:cNvPr id="4" name="Slide Number Placeholder 3"/>
          <p:cNvSpPr>
            <a:spLocks noGrp="1"/>
          </p:cNvSpPr>
          <p:nvPr>
            <p:ph type="sldNum" sz="quarter" idx="5"/>
          </p:nvPr>
        </p:nvSpPr>
        <p:spPr/>
        <p:txBody>
          <a:bodyPr/>
          <a:lstStyle/>
          <a:p>
            <a:pPr rtl="0"/>
            <a:fld id="{C6B3AB32-59DF-41F1-9618-EDFBF5049629}" type="slidenum">
              <a:rPr lang="en-GB" smtClean="0"/>
              <a:t>4</a:t>
            </a:fld>
            <a:endParaRPr lang="en-GB"/>
          </a:p>
        </p:txBody>
      </p:sp>
    </p:spTree>
    <p:extLst>
      <p:ext uri="{BB962C8B-B14F-4D97-AF65-F5344CB8AC3E}">
        <p14:creationId xmlns:p14="http://schemas.microsoft.com/office/powerpoint/2010/main" val="2130551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CE308-BF44-9E90-1249-B69BBE6D7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67B0FD-F6B8-2EE0-D50D-912ACC3EBB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059950-7E07-7C99-2AD9-EE55B89440A3}"/>
              </a:ext>
            </a:extLst>
          </p:cNvPr>
          <p:cNvSpPr>
            <a:spLocks noGrp="1"/>
          </p:cNvSpPr>
          <p:nvPr>
            <p:ph type="body" idx="1"/>
          </p:nvPr>
        </p:nvSpPr>
        <p:spPr/>
        <p:txBody>
          <a:bodyPr/>
          <a:lstStyle/>
          <a:p>
            <a:r>
              <a:rPr lang="en-US" dirty="0"/>
              <a:t>The limited sample size of only two handwritten essays, is sufficient for the objective of this demonstration in supporting accessibility, justifying the inclusion of the OCR component in the AES pipeline. </a:t>
            </a:r>
            <a:endParaRPr lang="en-GB" dirty="0"/>
          </a:p>
        </p:txBody>
      </p:sp>
      <p:sp>
        <p:nvSpPr>
          <p:cNvPr id="4" name="Slide Number Placeholder 3">
            <a:extLst>
              <a:ext uri="{FF2B5EF4-FFF2-40B4-BE49-F238E27FC236}">
                <a16:creationId xmlns:a16="http://schemas.microsoft.com/office/drawing/2014/main" id="{D69B9F8A-E5A8-F160-F1B3-81749B0D5E2F}"/>
              </a:ext>
            </a:extLst>
          </p:cNvPr>
          <p:cNvSpPr>
            <a:spLocks noGrp="1"/>
          </p:cNvSpPr>
          <p:nvPr>
            <p:ph type="sldNum" sz="quarter" idx="5"/>
          </p:nvPr>
        </p:nvSpPr>
        <p:spPr/>
        <p:txBody>
          <a:bodyPr/>
          <a:lstStyle/>
          <a:p>
            <a:pPr rtl="0"/>
            <a:fld id="{C6B3AB32-59DF-41F1-9618-EDFBF5049629}" type="slidenum">
              <a:rPr lang="en-GB" smtClean="0"/>
              <a:t>5</a:t>
            </a:fld>
            <a:endParaRPr lang="en-GB"/>
          </a:p>
        </p:txBody>
      </p:sp>
    </p:spTree>
    <p:extLst>
      <p:ext uri="{BB962C8B-B14F-4D97-AF65-F5344CB8AC3E}">
        <p14:creationId xmlns:p14="http://schemas.microsoft.com/office/powerpoint/2010/main" val="2524144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A7863-AF08-348A-1694-20889777D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E02B0-1348-79B7-E8A0-B8FF017B14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67761B-6005-8F0C-8AF7-354903940825}"/>
              </a:ext>
            </a:extLst>
          </p:cNvPr>
          <p:cNvSpPr>
            <a:spLocks noGrp="1"/>
          </p:cNvSpPr>
          <p:nvPr>
            <p:ph type="body" idx="1"/>
          </p:nvPr>
        </p:nvSpPr>
        <p:spPr/>
        <p:txBody>
          <a:bodyPr/>
          <a:lstStyle/>
          <a:p>
            <a:r>
              <a:rPr lang="en-US" dirty="0"/>
              <a:t>The stages in the extraction pipeline are detection, extraction and evaluation, the corresponding parameters are set in </a:t>
            </a:r>
            <a:r>
              <a:rPr lang="en-US" dirty="0" err="1"/>
              <a:t>Jupyter</a:t>
            </a:r>
            <a:r>
              <a:rPr lang="en-US" dirty="0"/>
              <a:t> Notebook. </a:t>
            </a:r>
            <a:endParaRPr lang="en-GB" dirty="0"/>
          </a:p>
        </p:txBody>
      </p:sp>
      <p:sp>
        <p:nvSpPr>
          <p:cNvPr id="4" name="Slide Number Placeholder 3">
            <a:extLst>
              <a:ext uri="{FF2B5EF4-FFF2-40B4-BE49-F238E27FC236}">
                <a16:creationId xmlns:a16="http://schemas.microsoft.com/office/drawing/2014/main" id="{ECC448A0-F265-320E-52D0-00805C9B450F}"/>
              </a:ext>
            </a:extLst>
          </p:cNvPr>
          <p:cNvSpPr>
            <a:spLocks noGrp="1"/>
          </p:cNvSpPr>
          <p:nvPr>
            <p:ph type="sldNum" sz="quarter" idx="5"/>
          </p:nvPr>
        </p:nvSpPr>
        <p:spPr/>
        <p:txBody>
          <a:bodyPr/>
          <a:lstStyle/>
          <a:p>
            <a:pPr rtl="0"/>
            <a:fld id="{C6B3AB32-59DF-41F1-9618-EDFBF5049629}" type="slidenum">
              <a:rPr lang="en-GB" smtClean="0"/>
              <a:t>6</a:t>
            </a:fld>
            <a:endParaRPr lang="en-GB"/>
          </a:p>
        </p:txBody>
      </p:sp>
    </p:spTree>
    <p:extLst>
      <p:ext uri="{BB962C8B-B14F-4D97-AF65-F5344CB8AC3E}">
        <p14:creationId xmlns:p14="http://schemas.microsoft.com/office/powerpoint/2010/main" val="3703387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B62CA-18A9-AA64-6D7B-3F6ABAB697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33206-6B78-F9B5-A1DF-BAD07FF941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B7A95C-D64C-5B45-9AB9-AB0007B786C2}"/>
              </a:ext>
            </a:extLst>
          </p:cNvPr>
          <p:cNvSpPr>
            <a:spLocks noGrp="1"/>
          </p:cNvSpPr>
          <p:nvPr>
            <p:ph type="body" idx="1"/>
          </p:nvPr>
        </p:nvSpPr>
        <p:spPr/>
        <p:txBody>
          <a:bodyPr/>
          <a:lstStyle/>
          <a:p>
            <a:r>
              <a:rPr lang="en-US" dirty="0"/>
              <a:t>After extraction, the text is normalized prior to performance evaluation, by removing punctuation characters that inflate the word count. </a:t>
            </a:r>
            <a:endParaRPr lang="en-GB" dirty="0"/>
          </a:p>
        </p:txBody>
      </p:sp>
      <p:sp>
        <p:nvSpPr>
          <p:cNvPr id="4" name="Slide Number Placeholder 3">
            <a:extLst>
              <a:ext uri="{FF2B5EF4-FFF2-40B4-BE49-F238E27FC236}">
                <a16:creationId xmlns:a16="http://schemas.microsoft.com/office/drawing/2014/main" id="{A835A7E0-A6E8-2CE8-BD0A-ABD81FA601AB}"/>
              </a:ext>
            </a:extLst>
          </p:cNvPr>
          <p:cNvSpPr>
            <a:spLocks noGrp="1"/>
          </p:cNvSpPr>
          <p:nvPr>
            <p:ph type="sldNum" sz="quarter" idx="5"/>
          </p:nvPr>
        </p:nvSpPr>
        <p:spPr/>
        <p:txBody>
          <a:bodyPr/>
          <a:lstStyle/>
          <a:p>
            <a:pPr rtl="0"/>
            <a:fld id="{C6B3AB32-59DF-41F1-9618-EDFBF5049629}" type="slidenum">
              <a:rPr lang="en-GB" smtClean="0"/>
              <a:t>7</a:t>
            </a:fld>
            <a:endParaRPr lang="en-GB"/>
          </a:p>
        </p:txBody>
      </p:sp>
    </p:spTree>
    <p:extLst>
      <p:ext uri="{BB962C8B-B14F-4D97-AF65-F5344CB8AC3E}">
        <p14:creationId xmlns:p14="http://schemas.microsoft.com/office/powerpoint/2010/main" val="3360643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97047-85FD-21DE-8FB8-4F5F7B99F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AC52F0-33AD-42A2-2ECB-DCF8CBDB0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F2234-2371-8567-2411-CF9402179576}"/>
              </a:ext>
            </a:extLst>
          </p:cNvPr>
          <p:cNvSpPr>
            <a:spLocks noGrp="1"/>
          </p:cNvSpPr>
          <p:nvPr>
            <p:ph type="body" idx="1"/>
          </p:nvPr>
        </p:nvSpPr>
        <p:spPr/>
        <p:txBody>
          <a:bodyPr/>
          <a:lstStyle/>
          <a:p>
            <a:r>
              <a:rPr lang="en-US" dirty="0"/>
              <a:t>The normalization involves removing punctuation characters from the extracted text so that only words remain, thereby facilitating a fair comparison between the ground truth and the samples. </a:t>
            </a:r>
          </a:p>
          <a:p>
            <a:r>
              <a:rPr lang="en-US" dirty="0"/>
              <a:t>A confidence score with a threshold is set to 0.65 is used to filter out text that is likely to be spurious from propagating through the AES pipeline. </a:t>
            </a:r>
            <a:endParaRPr lang="en-GB" dirty="0"/>
          </a:p>
        </p:txBody>
      </p:sp>
      <p:sp>
        <p:nvSpPr>
          <p:cNvPr id="4" name="Slide Number Placeholder 3">
            <a:extLst>
              <a:ext uri="{FF2B5EF4-FFF2-40B4-BE49-F238E27FC236}">
                <a16:creationId xmlns:a16="http://schemas.microsoft.com/office/drawing/2014/main" id="{7D068C70-92FB-2AA3-FCC9-8BAF70CB2021}"/>
              </a:ext>
            </a:extLst>
          </p:cNvPr>
          <p:cNvSpPr>
            <a:spLocks noGrp="1"/>
          </p:cNvSpPr>
          <p:nvPr>
            <p:ph type="sldNum" sz="quarter" idx="5"/>
          </p:nvPr>
        </p:nvSpPr>
        <p:spPr/>
        <p:txBody>
          <a:bodyPr/>
          <a:lstStyle/>
          <a:p>
            <a:pPr rtl="0"/>
            <a:fld id="{C6B3AB32-59DF-41F1-9618-EDFBF5049629}" type="slidenum">
              <a:rPr lang="en-GB" smtClean="0"/>
              <a:t>8</a:t>
            </a:fld>
            <a:endParaRPr lang="en-GB"/>
          </a:p>
        </p:txBody>
      </p:sp>
    </p:spTree>
    <p:extLst>
      <p:ext uri="{BB962C8B-B14F-4D97-AF65-F5344CB8AC3E}">
        <p14:creationId xmlns:p14="http://schemas.microsoft.com/office/powerpoint/2010/main" val="632892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B0EB0-74D5-598D-6B78-3D278A121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DC5116-E0F2-B49A-8628-A43B6BA06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4BAD13-D531-5C10-C365-B45B4CBC03EC}"/>
              </a:ext>
            </a:extLst>
          </p:cNvPr>
          <p:cNvSpPr>
            <a:spLocks noGrp="1"/>
          </p:cNvSpPr>
          <p:nvPr>
            <p:ph type="body" idx="1"/>
          </p:nvPr>
        </p:nvSpPr>
        <p:spPr/>
        <p:txBody>
          <a:bodyPr/>
          <a:lstStyle/>
          <a:p>
            <a:r>
              <a:rPr lang="en-US" dirty="0"/>
              <a:t>To extract features from the essays. The Natural Language Toolkit (NLTK) library is used to tokenize words and sentences to allow statistical measures to be taken of the features of the essays. These statistics will then be input as hand-crafted features to improve the interpretability of the essay evaluation performed by the Transformer model. </a:t>
            </a:r>
            <a:endParaRPr lang="en-GB" dirty="0"/>
          </a:p>
        </p:txBody>
      </p:sp>
      <p:sp>
        <p:nvSpPr>
          <p:cNvPr id="4" name="Slide Number Placeholder 3">
            <a:extLst>
              <a:ext uri="{FF2B5EF4-FFF2-40B4-BE49-F238E27FC236}">
                <a16:creationId xmlns:a16="http://schemas.microsoft.com/office/drawing/2014/main" id="{A4A17A21-82B4-CA0A-2208-FA04C755D8DE}"/>
              </a:ext>
            </a:extLst>
          </p:cNvPr>
          <p:cNvSpPr>
            <a:spLocks noGrp="1"/>
          </p:cNvSpPr>
          <p:nvPr>
            <p:ph type="sldNum" sz="quarter" idx="5"/>
          </p:nvPr>
        </p:nvSpPr>
        <p:spPr/>
        <p:txBody>
          <a:bodyPr/>
          <a:lstStyle/>
          <a:p>
            <a:pPr rtl="0"/>
            <a:fld id="{C6B3AB32-59DF-41F1-9618-EDFBF5049629}" type="slidenum">
              <a:rPr lang="en-GB" smtClean="0"/>
              <a:t>9</a:t>
            </a:fld>
            <a:endParaRPr lang="en-GB"/>
          </a:p>
        </p:txBody>
      </p:sp>
    </p:spTree>
    <p:extLst>
      <p:ext uri="{BB962C8B-B14F-4D97-AF65-F5344CB8AC3E}">
        <p14:creationId xmlns:p14="http://schemas.microsoft.com/office/powerpoint/2010/main" val="1886508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F0903-C193-288E-ED51-E13A09699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5B48C-FCF2-A9DB-31CD-D6D0221A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09AE6-E515-22A8-D311-FD71AAEF00E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These results show that the OCR component successfully extracted handwritten text and converted it to digital text. They also show the success criteria being satisfied as all figures obtained  fall below the 2% ceiling. </a:t>
            </a:r>
          </a:p>
          <a:p>
            <a:endParaRPr lang="en-GB" dirty="0"/>
          </a:p>
        </p:txBody>
      </p:sp>
      <p:sp>
        <p:nvSpPr>
          <p:cNvPr id="4" name="Slide Number Placeholder 3">
            <a:extLst>
              <a:ext uri="{FF2B5EF4-FFF2-40B4-BE49-F238E27FC236}">
                <a16:creationId xmlns:a16="http://schemas.microsoft.com/office/drawing/2014/main" id="{BA2C474A-2E4E-12C5-3750-55B3DD0942D4}"/>
              </a:ext>
            </a:extLst>
          </p:cNvPr>
          <p:cNvSpPr>
            <a:spLocks noGrp="1"/>
          </p:cNvSpPr>
          <p:nvPr>
            <p:ph type="sldNum" sz="quarter" idx="5"/>
          </p:nvPr>
        </p:nvSpPr>
        <p:spPr/>
        <p:txBody>
          <a:bodyPr/>
          <a:lstStyle/>
          <a:p>
            <a:pPr rtl="0"/>
            <a:fld id="{C6B3AB32-59DF-41F1-9618-EDFBF5049629}" type="slidenum">
              <a:rPr lang="en-GB" smtClean="0"/>
              <a:t>10</a:t>
            </a:fld>
            <a:endParaRPr lang="en-GB"/>
          </a:p>
        </p:txBody>
      </p:sp>
    </p:spTree>
    <p:extLst>
      <p:ext uri="{BB962C8B-B14F-4D97-AF65-F5344CB8AC3E}">
        <p14:creationId xmlns:p14="http://schemas.microsoft.com/office/powerpoint/2010/main" val="1050792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30B46-2E4D-549A-032D-7BDA3B9379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EE73D-A42F-F9ED-25FF-1AFE851EC5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F298A-B86A-017D-8385-089CB1223AD7}"/>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The sample size was very small and as such is not sufficient to comprehensively evaluate the performance of the OCR model as it was not representative of the real-world conditions that essays will have to be written, captures and submitted under. </a:t>
            </a:r>
          </a:p>
          <a:p>
            <a:endParaRPr lang="en-GB" dirty="0"/>
          </a:p>
        </p:txBody>
      </p:sp>
      <p:sp>
        <p:nvSpPr>
          <p:cNvPr id="4" name="Slide Number Placeholder 3">
            <a:extLst>
              <a:ext uri="{FF2B5EF4-FFF2-40B4-BE49-F238E27FC236}">
                <a16:creationId xmlns:a16="http://schemas.microsoft.com/office/drawing/2014/main" id="{89DFB27A-944F-164F-9AFC-9644C7F8B1ED}"/>
              </a:ext>
            </a:extLst>
          </p:cNvPr>
          <p:cNvSpPr>
            <a:spLocks noGrp="1"/>
          </p:cNvSpPr>
          <p:nvPr>
            <p:ph type="sldNum" sz="quarter" idx="5"/>
          </p:nvPr>
        </p:nvSpPr>
        <p:spPr/>
        <p:txBody>
          <a:bodyPr/>
          <a:lstStyle/>
          <a:p>
            <a:pPr rtl="0"/>
            <a:fld id="{C6B3AB32-59DF-41F1-9618-EDFBF5049629}" type="slidenum">
              <a:rPr lang="en-GB" smtClean="0"/>
              <a:t>11</a:t>
            </a:fld>
            <a:endParaRPr lang="en-GB"/>
          </a:p>
        </p:txBody>
      </p:sp>
    </p:spTree>
    <p:extLst>
      <p:ext uri="{BB962C8B-B14F-4D97-AF65-F5344CB8AC3E}">
        <p14:creationId xmlns:p14="http://schemas.microsoft.com/office/powerpoint/2010/main" val="4054716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en-GB" sz="1200" kern="1200" dirty="0">
                <a:solidFill>
                  <a:schemeClr val="tx1"/>
                </a:solidFill>
                <a:effectLst/>
                <a:latin typeface="+mn-lt"/>
                <a:ea typeface="+mn-ea"/>
                <a:cs typeface="+mn-cs"/>
              </a:rPr>
              <a:t>This presentation has demonstrated that </a:t>
            </a:r>
            <a:r>
              <a:rPr lang="en-GB" sz="1200" kern="1200" dirty="0" err="1">
                <a:solidFill>
                  <a:schemeClr val="tx1"/>
                </a:solidFill>
                <a:effectLst/>
                <a:latin typeface="+mn-lt"/>
                <a:ea typeface="+mn-ea"/>
                <a:cs typeface="+mn-cs"/>
              </a:rPr>
              <a:t>paddleOCR</a:t>
            </a:r>
            <a:r>
              <a:rPr lang="en-GB" sz="1200" kern="1200" dirty="0">
                <a:solidFill>
                  <a:schemeClr val="tx1"/>
                </a:solidFill>
                <a:effectLst/>
                <a:latin typeface="+mn-lt"/>
                <a:ea typeface="+mn-ea"/>
                <a:cs typeface="+mn-cs"/>
              </a:rPr>
              <a:t> is an essential addition to the AES system, in promoting accessibility. The results shows the model performed acceptably indicating its ability to accurately extract handwritten text from and image and convert it to digital text. However, the presence of errors indicates the need for mitigation which will be implemented with future developments to the system. </a:t>
            </a:r>
            <a:endParaRPr lang="en-GB" dirty="0"/>
          </a:p>
        </p:txBody>
      </p:sp>
      <p:sp>
        <p:nvSpPr>
          <p:cNvPr id="4" name="Slide Number Placeholder 3"/>
          <p:cNvSpPr>
            <a:spLocks noGrp="1"/>
          </p:cNvSpPr>
          <p:nvPr>
            <p:ph type="sldNum" sz="quarter" idx="5"/>
          </p:nvPr>
        </p:nvSpPr>
        <p:spPr/>
        <p:txBody>
          <a:bodyPr rtlCol="0"/>
          <a:lstStyle/>
          <a:p>
            <a:pPr rtl="0"/>
            <a:fld id="{C6B3AB32-59DF-41F1-9618-EDFBF5049629}" type="slidenum">
              <a:rPr lang="en-GB" smtClean="0"/>
              <a:t>12</a:t>
            </a:fld>
            <a:endParaRPr lang="en-GB"/>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n-US" noProof="0"/>
              <a:t>Click to edit Master subtitle style</a:t>
            </a:r>
            <a:endParaRPr lang="en-GB" noProof="0"/>
          </a:p>
        </p:txBody>
      </p:sp>
      <p:sp>
        <p:nvSpPr>
          <p:cNvPr id="4" name="Date Placeholder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303A4E85-D1CF-4174-8E96-0E716FE67106}" type="datetime1">
              <a:rPr lang="en-GB" noProof="0" smtClean="0"/>
              <a:t>28/06/2026</a:t>
            </a:fld>
            <a:endParaRPr lang="en-GB" noProof="0"/>
          </a:p>
        </p:txBody>
      </p:sp>
      <p:sp>
        <p:nvSpPr>
          <p:cNvPr id="5" name="Footer Placeholder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en-GB" noProof="0"/>
          </a:p>
        </p:txBody>
      </p:sp>
      <p:sp>
        <p:nvSpPr>
          <p:cNvPr id="6" name="Slide Number Placeholder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702156"/>
            <a:ext cx="11029616" cy="1013800"/>
          </a:xfrm>
        </p:spPr>
        <p:txBody>
          <a:bodyPr rtlCol="0"/>
          <a:lstStyle/>
          <a:p>
            <a:pPr rtl="0"/>
            <a:r>
              <a:rPr lang="en-US" noProof="0"/>
              <a:t>Click to edit Master title style</a:t>
            </a:r>
            <a:endParaRPr lang="en-GB" noProof="0"/>
          </a:p>
        </p:txBody>
      </p:sp>
      <p:sp>
        <p:nvSpPr>
          <p:cNvPr id="3" name="Content Placeholder 2"/>
          <p:cNvSpPr>
            <a:spLocks noGrp="1"/>
          </p:cNvSpPr>
          <p:nvPr>
            <p:ph idx="1" hasCustomPrompt="1"/>
          </p:nvPr>
        </p:nvSpPr>
        <p:spPr>
          <a:xfrm>
            <a:off x="581192" y="2180496"/>
            <a:ext cx="11029615" cy="3678303"/>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E3DCA11A-9768-448A-88A0-EBE3646E26CE}" type="datetime1">
              <a:rPr lang="en-GB" noProof="0" smtClean="0"/>
              <a:t>28/06/2026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a:xfrm>
            <a:off x="10558300" y="5956137"/>
            <a:ext cx="1052508" cy="365125"/>
          </a:xfrm>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GB" noProof="0"/>
              <a:t>Edit Master text styles</a:t>
            </a:r>
          </a:p>
        </p:txBody>
      </p:sp>
      <p:sp>
        <p:nvSpPr>
          <p:cNvPr id="4" name="Date Placeholder 3"/>
          <p:cNvSpPr>
            <a:spLocks noGrp="1"/>
          </p:cNvSpPr>
          <p:nvPr>
            <p:ph type="dt" sz="half" idx="10"/>
          </p:nvPr>
        </p:nvSpPr>
        <p:spPr/>
        <p:txBody>
          <a:bodyPr rtlCol="0"/>
          <a:lstStyle>
            <a:lvl1pPr>
              <a:defRPr>
                <a:solidFill>
                  <a:schemeClr val="accent1">
                    <a:lumMod val="75000"/>
                    <a:lumOff val="25000"/>
                  </a:schemeClr>
                </a:solidFill>
              </a:defRPr>
            </a:lvl1pPr>
          </a:lstStyle>
          <a:p>
            <a:pPr rtl="0"/>
            <a:fld id="{1FEDAE78-A3F9-426C-8A41-9692E3443471}" type="datetime1">
              <a:rPr lang="en-GB" noProof="0" smtClean="0"/>
              <a:t>28/06/2026</a:t>
            </a:fld>
            <a:endParaRPr lang="en-GB" noProof="0"/>
          </a:p>
        </p:txBody>
      </p:sp>
      <p:sp>
        <p:nvSpPr>
          <p:cNvPr id="5" name="Footer Placeholder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n-GB" noProof="0"/>
          </a:p>
        </p:txBody>
      </p:sp>
      <p:sp>
        <p:nvSpPr>
          <p:cNvPr id="6" name="Slide Number Placeholder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3" y="729658"/>
            <a:ext cx="11029616" cy="988332"/>
          </a:xfrm>
        </p:spPr>
        <p:txBody>
          <a:bodyPr rtlCol="0"/>
          <a:lstStyle/>
          <a:p>
            <a:pPr rtl="0"/>
            <a:r>
              <a:rPr lang="en-US" noProof="0"/>
              <a:t>Click to edit Master title style</a:t>
            </a:r>
            <a:endParaRPr lang="en-GB" noProof="0"/>
          </a:p>
        </p:txBody>
      </p:sp>
      <p:sp>
        <p:nvSpPr>
          <p:cNvPr id="3" name="Content Placeholder 2"/>
          <p:cNvSpPr>
            <a:spLocks noGrp="1"/>
          </p:cNvSpPr>
          <p:nvPr>
            <p:ph sz="half" idx="1" hasCustomPrompt="1"/>
          </p:nvPr>
        </p:nvSpPr>
        <p:spPr>
          <a:xfrm>
            <a:off x="581193" y="2228003"/>
            <a:ext cx="5422390" cy="3633047"/>
          </a:xfrm>
        </p:spPr>
        <p:txBody>
          <a:bodyPr rtlCol="0">
            <a:normAutofit/>
          </a:body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Content Placeholder 3"/>
          <p:cNvSpPr>
            <a:spLocks noGrp="1"/>
          </p:cNvSpPr>
          <p:nvPr>
            <p:ph sz="half" idx="2" hasCustomPrompt="1"/>
          </p:nvPr>
        </p:nvSpPr>
        <p:spPr>
          <a:xfrm>
            <a:off x="6188417" y="2228003"/>
            <a:ext cx="5422392" cy="3633047"/>
          </a:xfrm>
        </p:spPr>
        <p:txBody>
          <a:bodyPr rtlCol="0">
            <a:normAutofit/>
          </a:body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Date Placeholder 4"/>
          <p:cNvSpPr>
            <a:spLocks noGrp="1"/>
          </p:cNvSpPr>
          <p:nvPr>
            <p:ph type="dt" sz="half" idx="10"/>
          </p:nvPr>
        </p:nvSpPr>
        <p:spPr/>
        <p:txBody>
          <a:bodyPr rtlCol="0"/>
          <a:lstStyle/>
          <a:p>
            <a:pPr rtl="0"/>
            <a:fld id="{E17F9CBD-9AAB-4D08-A1FC-12CB5054CF84}" type="datetime1">
              <a:rPr lang="en-GB" noProof="0" smtClean="0"/>
              <a:t>28/06/2026</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rtlCol="0"/>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4" name="Content Placeholder 3"/>
          <p:cNvSpPr>
            <a:spLocks noGrp="1"/>
          </p:cNvSpPr>
          <p:nvPr>
            <p:ph sz="half" idx="2" hasCustomPrompt="1"/>
          </p:nvPr>
        </p:nvSpPr>
        <p:spPr>
          <a:xfrm>
            <a:off x="581194" y="2926052"/>
            <a:ext cx="5393100" cy="2934999"/>
          </a:xfrm>
        </p:spPr>
        <p:txBody>
          <a:bodyPr rtlCol="0" anchor="t">
            <a:normAutofit/>
          </a:body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6" name="Content Placeholder 5"/>
          <p:cNvSpPr>
            <a:spLocks noGrp="1"/>
          </p:cNvSpPr>
          <p:nvPr>
            <p:ph sz="quarter" idx="4" hasCustomPrompt="1"/>
          </p:nvPr>
        </p:nvSpPr>
        <p:spPr>
          <a:xfrm>
            <a:off x="6217709" y="2926052"/>
            <a:ext cx="5393100" cy="2934999"/>
          </a:xfrm>
        </p:spPr>
        <p:txBody>
          <a:bodyPr rtlCol="0" anchor="t">
            <a:normAutofit/>
          </a:body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p>
            <a:pPr rtl="0"/>
            <a:fld id="{A9E97160-1FA1-4003-9894-A2FDBE217EB3}" type="datetime1">
              <a:rPr lang="en-GB" noProof="0" smtClean="0"/>
              <a:t>28/06/2026</a:t>
            </a:fld>
            <a:endParaRPr lang="en-GB" noProof="0"/>
          </a:p>
        </p:txBody>
      </p:sp>
      <p:sp>
        <p:nvSpPr>
          <p:cNvPr id="8" name="Footer Placeholder 7"/>
          <p:cNvSpPr>
            <a:spLocks noGrp="1"/>
          </p:cNvSpPr>
          <p:nvPr>
            <p:ph type="ftr" sz="quarter" idx="11"/>
          </p:nvPr>
        </p:nvSpPr>
        <p:spPr/>
        <p:txBody>
          <a:bodyPr rtlCol="0"/>
          <a:lstStyle/>
          <a:p>
            <a:pPr rtl="0"/>
            <a:endParaRPr lang="en-GB" noProof="0"/>
          </a:p>
        </p:txBody>
      </p:sp>
      <p:sp>
        <p:nvSpPr>
          <p:cNvPr id="9" name="Slide Number Placeholder 8"/>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rtlCol="0"/>
          <a:lstStyle/>
          <a:p>
            <a:pPr rtl="0"/>
            <a:fld id="{25F76C7B-B428-4E1D-8DC1-C83A59B39C9C}" type="datetime1">
              <a:rPr lang="en-GB" noProof="0" smtClean="0"/>
              <a:t>28/06/2026</a:t>
            </a:fld>
            <a:endParaRPr lang="en-GB" noProof="0"/>
          </a:p>
        </p:txBody>
      </p:sp>
      <p:sp>
        <p:nvSpPr>
          <p:cNvPr id="4" name="Footer Placeholder 3"/>
          <p:cNvSpPr>
            <a:spLocks noGrp="1"/>
          </p:cNvSpPr>
          <p:nvPr>
            <p:ph type="ftr" sz="quarter" idx="11"/>
          </p:nvPr>
        </p:nvSpPr>
        <p:spPr/>
        <p:txBody>
          <a:bodyPr rtlCol="0"/>
          <a:lstStyle/>
          <a:p>
            <a:pPr rtl="0"/>
            <a:endParaRPr lang="en-GB" noProof="0"/>
          </a:p>
        </p:txBody>
      </p:sp>
      <p:sp>
        <p:nvSpPr>
          <p:cNvPr id="5" name="Slide Number Placeholder 4"/>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rtlCol="0"/>
          <a:lstStyle/>
          <a:p>
            <a:pPr rtl="0"/>
            <a:r>
              <a:rPr lang="en-US" noProof="0"/>
              <a:t>Click to edit Master title style</a:t>
            </a:r>
            <a:endParaRPr lang="en-GB" noProof="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89227842-69A9-4D57-8696-571A640FF47C}" type="datetime1">
              <a:rPr lang="en-GB" noProof="0" smtClean="0"/>
              <a:t>28/06/2026</a:t>
            </a:fld>
            <a:endParaRPr lang="en-GB" noProof="0"/>
          </a:p>
        </p:txBody>
      </p:sp>
      <p:sp>
        <p:nvSpPr>
          <p:cNvPr id="3" name="Footer Placeholder 2"/>
          <p:cNvSpPr>
            <a:spLocks noGrp="1"/>
          </p:cNvSpPr>
          <p:nvPr>
            <p:ph type="ftr" sz="quarter" idx="11"/>
          </p:nvPr>
        </p:nvSpPr>
        <p:spPr/>
        <p:txBody>
          <a:bodyPr rtlCol="0"/>
          <a:lstStyle/>
          <a:p>
            <a:pPr rtl="0"/>
            <a:endParaRPr lang="en-GB" noProof="0"/>
          </a:p>
        </p:txBody>
      </p:sp>
      <p:sp>
        <p:nvSpPr>
          <p:cNvPr id="4" name="Slide Number Placeholder 3"/>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en-US" noProof="0"/>
              <a:t>Click to edit Master title style</a:t>
            </a:r>
            <a:endParaRPr lang="en-GB" noProof="0"/>
          </a:p>
        </p:txBody>
      </p:sp>
      <p:sp>
        <p:nvSpPr>
          <p:cNvPr id="3" name="Content Placeholder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Text Placeholder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Edit Master text styles</a:t>
            </a:r>
          </a:p>
        </p:txBody>
      </p:sp>
      <p:sp>
        <p:nvSpPr>
          <p:cNvPr id="5" name="Date Placeholder 4"/>
          <p:cNvSpPr>
            <a:spLocks noGrp="1"/>
          </p:cNvSpPr>
          <p:nvPr>
            <p:ph type="dt" sz="half" idx="10"/>
          </p:nvPr>
        </p:nvSpPr>
        <p:spPr/>
        <p:txBody>
          <a:bodyPr rtlCol="0"/>
          <a:lstStyle>
            <a:lvl1pPr>
              <a:defRPr>
                <a:solidFill>
                  <a:schemeClr val="accent1">
                    <a:lumMod val="75000"/>
                    <a:lumOff val="25000"/>
                  </a:schemeClr>
                </a:solidFill>
              </a:defRPr>
            </a:lvl1pPr>
          </a:lstStyle>
          <a:p>
            <a:pPr rtl="0"/>
            <a:fld id="{B6D4024D-709A-489C-A1E0-404FC4EC40E9}" type="datetime1">
              <a:rPr lang="en-GB" noProof="0" smtClean="0"/>
              <a:t>28/06/2026</a:t>
            </a:fld>
            <a:endParaRPr lang="en-GB" noProof="0"/>
          </a:p>
        </p:txBody>
      </p:sp>
      <p:sp>
        <p:nvSpPr>
          <p:cNvPr id="6" name="Footer Placeholder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n-GB" noProof="0"/>
          </a:p>
        </p:txBody>
      </p:sp>
      <p:sp>
        <p:nvSpPr>
          <p:cNvPr id="7" name="Slide Number Placeholder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en-US" noProof="0"/>
              <a:t>Click to edit Master title style</a:t>
            </a:r>
            <a:endParaRPr lang="en-GB" noProof="0"/>
          </a:p>
        </p:txBody>
      </p:sp>
      <p:sp>
        <p:nvSpPr>
          <p:cNvPr id="3" name="Picture Placeholder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n-US" noProof="0"/>
              <a:t>Click icon to add picture</a:t>
            </a:r>
            <a:endParaRPr lang="en-GB" noProof="0"/>
          </a:p>
        </p:txBody>
      </p:sp>
      <p:sp>
        <p:nvSpPr>
          <p:cNvPr id="4" name="Text Placeholder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GB" noProof="0"/>
              <a:t>Edit Master text styles</a:t>
            </a:r>
          </a:p>
        </p:txBody>
      </p:sp>
      <p:sp>
        <p:nvSpPr>
          <p:cNvPr id="5" name="Date Placeholder 4"/>
          <p:cNvSpPr>
            <a:spLocks noGrp="1"/>
          </p:cNvSpPr>
          <p:nvPr>
            <p:ph type="dt" sz="half" idx="10"/>
          </p:nvPr>
        </p:nvSpPr>
        <p:spPr/>
        <p:txBody>
          <a:bodyPr rtlCol="0"/>
          <a:lstStyle/>
          <a:p>
            <a:pPr rtl="0"/>
            <a:fld id="{5FFEA7D9-67F6-4FDA-9663-2C4F43E353A1}" type="datetime1">
              <a:rPr lang="en-GB" noProof="0" smtClean="0"/>
              <a:t>28/06/2026</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rtlCol="0"/>
          <a:lstStyle/>
          <a:p>
            <a:pPr rtl="0"/>
            <a:r>
              <a:rPr lang="en-US" noProof="0"/>
              <a:t>Click to edit Master title style</a:t>
            </a:r>
            <a:endParaRPr lang="en-GB" noProof="0"/>
          </a:p>
        </p:txBody>
      </p:sp>
      <p:sp>
        <p:nvSpPr>
          <p:cNvPr id="3" name="Vertical Text Placeholder 2"/>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6EBFDA4C-4741-4614-8CF1-6BBCA681C2EE}" type="datetime1">
              <a:rPr lang="en-GB" noProof="0" smtClean="0"/>
              <a:t>28/06/2026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rtlCol="0"/>
          <a:lstStyle/>
          <a:p>
            <a:pPr rtl="0"/>
            <a:r>
              <a:rPr lang="en-US" noProof="0"/>
              <a:t>Click to edit Master title style</a:t>
            </a:r>
            <a:endParaRPr lang="en-GB" noProof="0"/>
          </a:p>
        </p:txBody>
      </p:sp>
      <p:sp>
        <p:nvSpPr>
          <p:cNvPr id="3" name="Vertical Text Placeholder 2"/>
          <p:cNvSpPr>
            <a:spLocks noGrp="1"/>
          </p:cNvSpPr>
          <p:nvPr>
            <p:ph type="body" orient="vert" idx="1" hasCustomPrompt="1"/>
          </p:nvPr>
        </p:nvSpPr>
        <p:spPr>
          <a:xfrm>
            <a:off x="774923" y="675726"/>
            <a:ext cx="7896279" cy="5183073"/>
          </a:xfrm>
        </p:spPr>
        <p:txBody>
          <a:bodyPr vert="eaVert" rtlCol="0" anchor="t"/>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0663A167-FB84-446A-9868-9338781AA304}" type="datetime1">
              <a:rPr lang="en-GB" noProof="0" smtClean="0"/>
              <a:t>28/06/2026</a:t>
            </a:fld>
            <a:endParaRPr lang="en-GB" noProof="0"/>
          </a:p>
        </p:txBody>
      </p:sp>
      <p:sp>
        <p:nvSpPr>
          <p:cNvPr id="5" name="Footer Placeholder 4"/>
          <p:cNvSpPr>
            <a:spLocks noGrp="1"/>
          </p:cNvSpPr>
          <p:nvPr>
            <p:ph type="ftr" sz="quarter" idx="11"/>
          </p:nvPr>
        </p:nvSpPr>
        <p:spPr>
          <a:xfrm>
            <a:off x="774923" y="5951811"/>
            <a:ext cx="7896279" cy="365125"/>
          </a:xfrm>
        </p:spPr>
        <p:txBody>
          <a:bodyPr rtlCol="0"/>
          <a:lstStyle/>
          <a:p>
            <a:pPr rtl="0"/>
            <a:endParaRPr lang="en-GB" noProof="0"/>
          </a:p>
        </p:txBody>
      </p:sp>
      <p:sp>
        <p:nvSpPr>
          <p:cNvPr id="6" name="Slide Number Placeholder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n-GB" noProof="0" smtClean="0"/>
              <a:pPr/>
              <a:t>‹#›</a:t>
            </a:fld>
            <a:endParaRPr lang="en-GB"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4B4B326D-8F15-4B53-B18E-44A3026066F3}" type="datetime1">
              <a:rPr lang="en-GB" noProof="0" smtClean="0"/>
              <a:t>28/06/2026</a:t>
            </a:fld>
            <a:endParaRPr lang="en-GB" noProof="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en-GB" noProof="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en-GB" noProof="0" smtClean="0"/>
              <a:pPr/>
              <a:t>‹#›</a:t>
            </a:fld>
            <a:endParaRPr lang="en-GB" noProof="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rtlCol="0">
            <a:noAutofit/>
          </a:bodyPr>
          <a:lstStyle/>
          <a:p>
            <a:pPr rtl="0"/>
            <a:r>
              <a:rPr lang="en-GB" sz="6000" dirty="0">
                <a:solidFill>
                  <a:schemeClr val="bg1"/>
                </a:solidFill>
              </a:rPr>
              <a:t>BRAINPOWER</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rtlCol="0">
            <a:normAutofit/>
          </a:bodyPr>
          <a:lstStyle/>
          <a:p>
            <a:pPr rtl="0"/>
            <a:r>
              <a:rPr lang="en-US" dirty="0" err="1">
                <a:solidFill>
                  <a:srgbClr val="7CEBFF"/>
                </a:solidFill>
              </a:rPr>
              <a:t>Ocr</a:t>
            </a:r>
            <a:r>
              <a:rPr lang="en-US" dirty="0">
                <a:solidFill>
                  <a:srgbClr val="7CEBFF"/>
                </a:solidFill>
              </a:rPr>
              <a:t> FEATURE PROTOTYPE</a:t>
            </a:r>
            <a:endParaRPr lang="en-GB"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FDA9692-ECDC-4B59-86B2-8C90FDE1A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
        <p:nvSpPr>
          <p:cNvPr id="31" name="Rectangle 30">
            <a:extLst>
              <a:ext uri="{FF2B5EF4-FFF2-40B4-BE49-F238E27FC236}">
                <a16:creationId xmlns:a16="http://schemas.microsoft.com/office/drawing/2014/main" id="{12C05506-42A1-49C0-9D87-081CCD902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5264487"/>
            <a:ext cx="11029616" cy="718870"/>
          </a:xfrm>
        </p:spPr>
        <p:txBody>
          <a:bodyPr rtlCol="0">
            <a:normAutofit/>
          </a:bodyPr>
          <a:lstStyle/>
          <a:p>
            <a:r>
              <a:rPr lang="en-GB" dirty="0">
                <a:solidFill>
                  <a:srgbClr val="FFFEFF"/>
                </a:solidFill>
              </a:rPr>
              <a:t>architecture</a:t>
            </a:r>
          </a:p>
        </p:txBody>
      </p:sp>
      <p:pic>
        <p:nvPicPr>
          <p:cNvPr id="9" name="Picture 8">
            <a:extLst>
              <a:ext uri="{FF2B5EF4-FFF2-40B4-BE49-F238E27FC236}">
                <a16:creationId xmlns:a16="http://schemas.microsoft.com/office/drawing/2014/main" id="{540A8E50-3240-5EF6-8ADC-4AF37D6E64FE}"/>
              </a:ext>
            </a:extLst>
          </p:cNvPr>
          <p:cNvPicPr>
            <a:picLocks noChangeAspect="1"/>
          </p:cNvPicPr>
          <p:nvPr/>
        </p:nvPicPr>
        <p:blipFill>
          <a:blip r:embed="rId3"/>
          <a:srcRect l="4421" t="13439" r="1808"/>
          <a:stretch>
            <a:fillRect/>
          </a:stretch>
        </p:blipFill>
        <p:spPr>
          <a:xfrm>
            <a:off x="2692400" y="609012"/>
            <a:ext cx="6299200" cy="4482061"/>
          </a:xfrm>
          <a:prstGeom prst="rect">
            <a:avLst/>
          </a:prstGeom>
        </p:spPr>
      </p:pic>
    </p:spTree>
    <p:extLst>
      <p:ext uri="{BB962C8B-B14F-4D97-AF65-F5344CB8AC3E}">
        <p14:creationId xmlns:p14="http://schemas.microsoft.com/office/powerpoint/2010/main" val="1703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pic>
        <p:nvPicPr>
          <p:cNvPr id="8" name="Content Placeholder 4" descr="Digital Number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oup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Rectangle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Rectangle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7F2616EE-270D-4F4C-BA1F-2708D387B800}"/>
              </a:ext>
            </a:extLst>
          </p:cNvPr>
          <p:cNvSpPr>
            <a:spLocks noGrp="1"/>
          </p:cNvSpPr>
          <p:nvPr>
            <p:ph type="title"/>
          </p:nvPr>
        </p:nvSpPr>
        <p:spPr>
          <a:xfrm>
            <a:off x="584200" y="1006956"/>
            <a:ext cx="7213600" cy="1121871"/>
          </a:xfrm>
        </p:spPr>
        <p:txBody>
          <a:bodyPr rtlCol="0" anchor="ctr">
            <a:normAutofit/>
          </a:bodyPr>
          <a:lstStyle/>
          <a:p>
            <a:pPr algn="ctr" rtl="0"/>
            <a:r>
              <a:rPr lang="en-GB" dirty="0"/>
              <a:t>Justification for selection</a:t>
            </a:r>
          </a:p>
        </p:txBody>
      </p:sp>
      <p:graphicFrame>
        <p:nvGraphicFramePr>
          <p:cNvPr id="6" name="Content Placeholder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2016030361"/>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09322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a:xfrm>
            <a:off x="484374" y="708143"/>
            <a:ext cx="11029616" cy="988332"/>
          </a:xfrm>
        </p:spPr>
        <p:txBody>
          <a:bodyPr rtlCol="0"/>
          <a:lstStyle/>
          <a:p>
            <a:pPr rtl="0"/>
            <a:r>
              <a:rPr lang="en-GB" dirty="0"/>
              <a:t>Phase 1 – Essay preparation </a:t>
            </a:r>
          </a:p>
        </p:txBody>
      </p:sp>
      <p:sp>
        <p:nvSpPr>
          <p:cNvPr id="19" name="TextBox 18">
            <a:extLst>
              <a:ext uri="{FF2B5EF4-FFF2-40B4-BE49-F238E27FC236}">
                <a16:creationId xmlns:a16="http://schemas.microsoft.com/office/drawing/2014/main" id="{B5A836A4-67DD-7311-05B8-5F21AAEAB897}"/>
              </a:ext>
            </a:extLst>
          </p:cNvPr>
          <p:cNvSpPr txBox="1"/>
          <p:nvPr/>
        </p:nvSpPr>
        <p:spPr>
          <a:xfrm>
            <a:off x="484374" y="2514889"/>
            <a:ext cx="2396938" cy="369332"/>
          </a:xfrm>
          <a:prstGeom prst="rect">
            <a:avLst/>
          </a:prstGeom>
          <a:noFill/>
        </p:spPr>
        <p:txBody>
          <a:bodyPr wrap="none" rtlCol="0">
            <a:spAutoFit/>
          </a:bodyPr>
          <a:lstStyle/>
          <a:p>
            <a:r>
              <a:rPr lang="en-US" dirty="0"/>
              <a:t>The GROUND TRUTH</a:t>
            </a:r>
            <a:endParaRPr lang="en-GB" dirty="0"/>
          </a:p>
        </p:txBody>
      </p:sp>
      <p:pic>
        <p:nvPicPr>
          <p:cNvPr id="23" name="Picture 22">
            <a:extLst>
              <a:ext uri="{FF2B5EF4-FFF2-40B4-BE49-F238E27FC236}">
                <a16:creationId xmlns:a16="http://schemas.microsoft.com/office/drawing/2014/main" id="{A9BE5130-9707-01D1-E82A-24CB3D4B5F4E}"/>
              </a:ext>
            </a:extLst>
          </p:cNvPr>
          <p:cNvPicPr>
            <a:picLocks noChangeAspect="1"/>
          </p:cNvPicPr>
          <p:nvPr/>
        </p:nvPicPr>
        <p:blipFill>
          <a:blip r:embed="rId3"/>
          <a:stretch>
            <a:fillRect/>
          </a:stretch>
        </p:blipFill>
        <p:spPr>
          <a:xfrm>
            <a:off x="484374" y="3140781"/>
            <a:ext cx="8002117" cy="2448267"/>
          </a:xfrm>
          <a:prstGeom prst="rect">
            <a:avLst/>
          </a:prstGeom>
        </p:spPr>
      </p:pic>
    </p:spTree>
    <p:extLst>
      <p:ext uri="{BB962C8B-B14F-4D97-AF65-F5344CB8AC3E}">
        <p14:creationId xmlns:p14="http://schemas.microsoft.com/office/powerpoint/2010/main" val="497607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E873-5637-DE68-A7B0-226C5D9522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677C5-D617-B2C4-01FB-4C148E9C1F8D}"/>
              </a:ext>
            </a:extLst>
          </p:cNvPr>
          <p:cNvSpPr>
            <a:spLocks noGrp="1"/>
          </p:cNvSpPr>
          <p:nvPr>
            <p:ph type="title"/>
          </p:nvPr>
        </p:nvSpPr>
        <p:spPr>
          <a:xfrm>
            <a:off x="484374" y="708143"/>
            <a:ext cx="11029616" cy="988332"/>
          </a:xfrm>
        </p:spPr>
        <p:txBody>
          <a:bodyPr rtlCol="0"/>
          <a:lstStyle/>
          <a:p>
            <a:pPr rtl="0"/>
            <a:r>
              <a:rPr lang="en-GB" dirty="0"/>
              <a:t>Phase 2 – Essay capture</a:t>
            </a:r>
          </a:p>
        </p:txBody>
      </p:sp>
      <p:pic>
        <p:nvPicPr>
          <p:cNvPr id="8" name="Content Placeholder 7">
            <a:extLst>
              <a:ext uri="{FF2B5EF4-FFF2-40B4-BE49-F238E27FC236}">
                <a16:creationId xmlns:a16="http://schemas.microsoft.com/office/drawing/2014/main" id="{DB4598AC-330B-61FC-9419-CE752C47451A}"/>
              </a:ext>
            </a:extLst>
          </p:cNvPr>
          <p:cNvPicPr>
            <a:picLocks noGrp="1" noChangeAspect="1"/>
          </p:cNvPicPr>
          <p:nvPr>
            <p:ph sz="half" idx="1"/>
          </p:nvPr>
        </p:nvPicPr>
        <p:blipFill>
          <a:blip r:embed="rId3"/>
          <a:stretch>
            <a:fillRect/>
          </a:stretch>
        </p:blipFill>
        <p:spPr>
          <a:xfrm>
            <a:off x="581191" y="2227263"/>
            <a:ext cx="3508887" cy="3633787"/>
          </a:xfrm>
          <a:prstGeom prst="rect">
            <a:avLst/>
          </a:prstGeom>
        </p:spPr>
      </p:pic>
      <p:pic>
        <p:nvPicPr>
          <p:cNvPr id="10" name="Content Placeholder 9">
            <a:extLst>
              <a:ext uri="{FF2B5EF4-FFF2-40B4-BE49-F238E27FC236}">
                <a16:creationId xmlns:a16="http://schemas.microsoft.com/office/drawing/2014/main" id="{E88209AD-C49F-7E63-1F77-50EB43F1CA6E}"/>
              </a:ext>
            </a:extLst>
          </p:cNvPr>
          <p:cNvPicPr>
            <a:picLocks noGrp="1" noChangeAspect="1"/>
          </p:cNvPicPr>
          <p:nvPr>
            <p:ph sz="half" idx="2"/>
          </p:nvPr>
        </p:nvPicPr>
        <p:blipFill>
          <a:blip r:embed="rId4"/>
          <a:stretch>
            <a:fillRect/>
          </a:stretch>
        </p:blipFill>
        <p:spPr>
          <a:xfrm>
            <a:off x="4910862" y="2227263"/>
            <a:ext cx="3191062" cy="3633787"/>
          </a:xfrm>
          <a:prstGeom prst="rect">
            <a:avLst/>
          </a:prstGeom>
        </p:spPr>
      </p:pic>
    </p:spTree>
    <p:extLst>
      <p:ext uri="{BB962C8B-B14F-4D97-AF65-F5344CB8AC3E}">
        <p14:creationId xmlns:p14="http://schemas.microsoft.com/office/powerpoint/2010/main" val="2970751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B59DD-BB93-AEF2-BD28-05E7C0BC1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C9BFF-77B3-B690-83E4-017B8F202B0C}"/>
              </a:ext>
            </a:extLst>
          </p:cNvPr>
          <p:cNvSpPr>
            <a:spLocks noGrp="1"/>
          </p:cNvSpPr>
          <p:nvPr>
            <p:ph type="title"/>
          </p:nvPr>
        </p:nvSpPr>
        <p:spPr>
          <a:xfrm>
            <a:off x="484374" y="708143"/>
            <a:ext cx="11029616" cy="988332"/>
          </a:xfrm>
        </p:spPr>
        <p:txBody>
          <a:bodyPr rtlCol="0"/>
          <a:lstStyle/>
          <a:p>
            <a:pPr rtl="0"/>
            <a:r>
              <a:rPr lang="en-GB" dirty="0"/>
              <a:t>Phase 3a – </a:t>
            </a:r>
            <a:r>
              <a:rPr lang="en-GB" dirty="0" err="1"/>
              <a:t>ocr</a:t>
            </a:r>
            <a:r>
              <a:rPr lang="en-GB" dirty="0"/>
              <a:t> </a:t>
            </a:r>
            <a:r>
              <a:rPr lang="en-GB" dirty="0" err="1"/>
              <a:t>eXTRACTION</a:t>
            </a:r>
            <a:endParaRPr lang="en-GB" dirty="0"/>
          </a:p>
        </p:txBody>
      </p:sp>
      <p:pic>
        <p:nvPicPr>
          <p:cNvPr id="16" name="Picture 15">
            <a:extLst>
              <a:ext uri="{FF2B5EF4-FFF2-40B4-BE49-F238E27FC236}">
                <a16:creationId xmlns:a16="http://schemas.microsoft.com/office/drawing/2014/main" id="{47080179-156D-F769-DB8C-F80E5A0D547F}"/>
              </a:ext>
            </a:extLst>
          </p:cNvPr>
          <p:cNvPicPr>
            <a:picLocks noChangeAspect="1"/>
          </p:cNvPicPr>
          <p:nvPr/>
        </p:nvPicPr>
        <p:blipFill>
          <a:blip r:embed="rId3"/>
          <a:srcRect b="58444"/>
          <a:stretch>
            <a:fillRect/>
          </a:stretch>
        </p:blipFill>
        <p:spPr>
          <a:xfrm>
            <a:off x="394960" y="2144961"/>
            <a:ext cx="5930857" cy="2904559"/>
          </a:xfrm>
          <a:prstGeom prst="rect">
            <a:avLst/>
          </a:prstGeom>
        </p:spPr>
      </p:pic>
    </p:spTree>
    <p:extLst>
      <p:ext uri="{BB962C8B-B14F-4D97-AF65-F5344CB8AC3E}">
        <p14:creationId xmlns:p14="http://schemas.microsoft.com/office/powerpoint/2010/main" val="3290951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7B3A7-57B4-0482-D071-5EF06CB4B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C4DFCD-392D-8D35-ECCE-618FD924C8C9}"/>
              </a:ext>
            </a:extLst>
          </p:cNvPr>
          <p:cNvSpPr>
            <a:spLocks noGrp="1"/>
          </p:cNvSpPr>
          <p:nvPr>
            <p:ph type="title"/>
          </p:nvPr>
        </p:nvSpPr>
        <p:spPr>
          <a:xfrm>
            <a:off x="484374" y="708143"/>
            <a:ext cx="11029616" cy="988332"/>
          </a:xfrm>
        </p:spPr>
        <p:txBody>
          <a:bodyPr rtlCol="0"/>
          <a:lstStyle/>
          <a:p>
            <a:pPr rtl="0"/>
            <a:r>
              <a:rPr lang="en-GB" dirty="0"/>
              <a:t>Phase 3b – </a:t>
            </a:r>
            <a:r>
              <a:rPr lang="en-GB" dirty="0" err="1"/>
              <a:t>ocr</a:t>
            </a:r>
            <a:r>
              <a:rPr lang="en-GB" dirty="0"/>
              <a:t> </a:t>
            </a:r>
            <a:r>
              <a:rPr lang="en-GB" dirty="0" err="1"/>
              <a:t>eXTRACTION</a:t>
            </a:r>
            <a:endParaRPr lang="en-GB" dirty="0"/>
          </a:p>
        </p:txBody>
      </p:sp>
      <p:pic>
        <p:nvPicPr>
          <p:cNvPr id="12" name="Picture 11">
            <a:extLst>
              <a:ext uri="{FF2B5EF4-FFF2-40B4-BE49-F238E27FC236}">
                <a16:creationId xmlns:a16="http://schemas.microsoft.com/office/drawing/2014/main" id="{7B46834A-C11B-F77D-B1F5-7DF629306958}"/>
              </a:ext>
            </a:extLst>
          </p:cNvPr>
          <p:cNvPicPr>
            <a:picLocks noChangeAspect="1"/>
          </p:cNvPicPr>
          <p:nvPr/>
        </p:nvPicPr>
        <p:blipFill>
          <a:blip r:embed="rId3"/>
          <a:stretch>
            <a:fillRect/>
          </a:stretch>
        </p:blipFill>
        <p:spPr>
          <a:xfrm>
            <a:off x="344914" y="2143076"/>
            <a:ext cx="10469436" cy="3905795"/>
          </a:xfrm>
          <a:prstGeom prst="rect">
            <a:avLst/>
          </a:prstGeom>
        </p:spPr>
      </p:pic>
    </p:spTree>
    <p:extLst>
      <p:ext uri="{BB962C8B-B14F-4D97-AF65-F5344CB8AC3E}">
        <p14:creationId xmlns:p14="http://schemas.microsoft.com/office/powerpoint/2010/main" val="2774535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EA9F8-0B21-2B53-757A-C363742CF7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84996-138B-FA06-6C7B-8DA0BF0F33AA}"/>
              </a:ext>
            </a:extLst>
          </p:cNvPr>
          <p:cNvSpPr>
            <a:spLocks noGrp="1"/>
          </p:cNvSpPr>
          <p:nvPr>
            <p:ph type="title"/>
          </p:nvPr>
        </p:nvSpPr>
        <p:spPr>
          <a:xfrm>
            <a:off x="484374" y="708143"/>
            <a:ext cx="11029616" cy="988332"/>
          </a:xfrm>
        </p:spPr>
        <p:txBody>
          <a:bodyPr rtlCol="0"/>
          <a:lstStyle/>
          <a:p>
            <a:pPr rtl="0"/>
            <a:r>
              <a:rPr lang="en-GB" dirty="0"/>
              <a:t>Normalisation</a:t>
            </a:r>
          </a:p>
        </p:txBody>
      </p:sp>
      <p:pic>
        <p:nvPicPr>
          <p:cNvPr id="4" name="Picture 3">
            <a:extLst>
              <a:ext uri="{FF2B5EF4-FFF2-40B4-BE49-F238E27FC236}">
                <a16:creationId xmlns:a16="http://schemas.microsoft.com/office/drawing/2014/main" id="{D5638BEE-6E50-42C9-75C7-74FC67BACE16}"/>
              </a:ext>
            </a:extLst>
          </p:cNvPr>
          <p:cNvPicPr>
            <a:picLocks noChangeAspect="1"/>
          </p:cNvPicPr>
          <p:nvPr/>
        </p:nvPicPr>
        <p:blipFill>
          <a:blip r:embed="rId3"/>
          <a:srcRect t="1656"/>
          <a:stretch>
            <a:fillRect/>
          </a:stretch>
        </p:blipFill>
        <p:spPr>
          <a:xfrm>
            <a:off x="246561" y="2001520"/>
            <a:ext cx="6496957" cy="4412610"/>
          </a:xfrm>
          <a:prstGeom prst="rect">
            <a:avLst/>
          </a:prstGeom>
        </p:spPr>
      </p:pic>
    </p:spTree>
    <p:extLst>
      <p:ext uri="{BB962C8B-B14F-4D97-AF65-F5344CB8AC3E}">
        <p14:creationId xmlns:p14="http://schemas.microsoft.com/office/powerpoint/2010/main" val="3956658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2F614-C18D-8909-7A17-D54F3EFA8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43E6AF-9D74-BB48-5128-2B6DDFA323C5}"/>
              </a:ext>
            </a:extLst>
          </p:cNvPr>
          <p:cNvSpPr>
            <a:spLocks noGrp="1"/>
          </p:cNvSpPr>
          <p:nvPr>
            <p:ph type="title"/>
          </p:nvPr>
        </p:nvSpPr>
        <p:spPr>
          <a:xfrm>
            <a:off x="484374" y="708143"/>
            <a:ext cx="11029616" cy="988332"/>
          </a:xfrm>
        </p:spPr>
        <p:txBody>
          <a:bodyPr rtlCol="0"/>
          <a:lstStyle/>
          <a:p>
            <a:pPr rtl="0"/>
            <a:r>
              <a:rPr lang="en-GB" dirty="0"/>
              <a:t>Feature Extraction</a:t>
            </a:r>
          </a:p>
        </p:txBody>
      </p:sp>
      <p:pic>
        <p:nvPicPr>
          <p:cNvPr id="5" name="Picture 4">
            <a:extLst>
              <a:ext uri="{FF2B5EF4-FFF2-40B4-BE49-F238E27FC236}">
                <a16:creationId xmlns:a16="http://schemas.microsoft.com/office/drawing/2014/main" id="{3C01330A-0D68-1D02-6FF1-0CC00DA11BF8}"/>
              </a:ext>
            </a:extLst>
          </p:cNvPr>
          <p:cNvPicPr>
            <a:picLocks noChangeAspect="1"/>
          </p:cNvPicPr>
          <p:nvPr/>
        </p:nvPicPr>
        <p:blipFill>
          <a:blip r:embed="rId3"/>
          <a:stretch>
            <a:fillRect/>
          </a:stretch>
        </p:blipFill>
        <p:spPr>
          <a:xfrm>
            <a:off x="226042" y="2052445"/>
            <a:ext cx="4810796" cy="2753109"/>
          </a:xfrm>
          <a:prstGeom prst="rect">
            <a:avLst/>
          </a:prstGeom>
        </p:spPr>
      </p:pic>
    </p:spTree>
    <p:extLst>
      <p:ext uri="{BB962C8B-B14F-4D97-AF65-F5344CB8AC3E}">
        <p14:creationId xmlns:p14="http://schemas.microsoft.com/office/powerpoint/2010/main" val="1750664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66417-2FC0-FF3E-10A5-218E46BA6F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6EA26-D0F8-E37C-DADB-D0ED02876D9B}"/>
              </a:ext>
            </a:extLst>
          </p:cNvPr>
          <p:cNvSpPr>
            <a:spLocks noGrp="1"/>
          </p:cNvSpPr>
          <p:nvPr>
            <p:ph type="title"/>
          </p:nvPr>
        </p:nvSpPr>
        <p:spPr>
          <a:xfrm>
            <a:off x="484374" y="708143"/>
            <a:ext cx="11029616" cy="988332"/>
          </a:xfrm>
        </p:spPr>
        <p:txBody>
          <a:bodyPr rtlCol="0"/>
          <a:lstStyle/>
          <a:p>
            <a:pPr rtl="0"/>
            <a:r>
              <a:rPr lang="en-GB" dirty="0"/>
              <a:t>Phase 4 – WORD AND ERROR RATE CALCULATIONS</a:t>
            </a:r>
          </a:p>
        </p:txBody>
      </p:sp>
      <p:pic>
        <p:nvPicPr>
          <p:cNvPr id="5" name="Picture 4">
            <a:extLst>
              <a:ext uri="{FF2B5EF4-FFF2-40B4-BE49-F238E27FC236}">
                <a16:creationId xmlns:a16="http://schemas.microsoft.com/office/drawing/2014/main" id="{A0DDD388-57CB-756D-2234-C8332F99980E}"/>
              </a:ext>
            </a:extLst>
          </p:cNvPr>
          <p:cNvPicPr>
            <a:picLocks noChangeAspect="1"/>
          </p:cNvPicPr>
          <p:nvPr/>
        </p:nvPicPr>
        <p:blipFill>
          <a:blip r:embed="rId3"/>
          <a:srcRect b="35417"/>
          <a:stretch>
            <a:fillRect/>
          </a:stretch>
        </p:blipFill>
        <p:spPr>
          <a:xfrm>
            <a:off x="307581" y="2293390"/>
            <a:ext cx="8703483" cy="2370049"/>
          </a:xfrm>
          <a:prstGeom prst="rect">
            <a:avLst/>
          </a:prstGeom>
        </p:spPr>
      </p:pic>
    </p:spTree>
    <p:extLst>
      <p:ext uri="{BB962C8B-B14F-4D97-AF65-F5344CB8AC3E}">
        <p14:creationId xmlns:p14="http://schemas.microsoft.com/office/powerpoint/2010/main" val="3616130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7DFF1-6D61-A6FD-A0A5-00795C988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BD38F-F109-DD98-51E0-E801726343E4}"/>
              </a:ext>
            </a:extLst>
          </p:cNvPr>
          <p:cNvSpPr>
            <a:spLocks noGrp="1"/>
          </p:cNvSpPr>
          <p:nvPr>
            <p:ph type="title"/>
          </p:nvPr>
        </p:nvSpPr>
        <p:spPr>
          <a:xfrm>
            <a:off x="484374" y="708143"/>
            <a:ext cx="11029616" cy="988332"/>
          </a:xfrm>
        </p:spPr>
        <p:txBody>
          <a:bodyPr rtlCol="0"/>
          <a:lstStyle/>
          <a:p>
            <a:pPr rtl="0"/>
            <a:r>
              <a:rPr lang="en-GB" dirty="0"/>
              <a:t>Limitations</a:t>
            </a:r>
          </a:p>
        </p:txBody>
      </p:sp>
      <p:grpSp>
        <p:nvGrpSpPr>
          <p:cNvPr id="4" name="Group 3">
            <a:extLst>
              <a:ext uri="{FF2B5EF4-FFF2-40B4-BE49-F238E27FC236}">
                <a16:creationId xmlns:a16="http://schemas.microsoft.com/office/drawing/2014/main" id="{8C15B49F-0733-08C2-A575-4DE56763D67D}"/>
              </a:ext>
            </a:extLst>
          </p:cNvPr>
          <p:cNvGrpSpPr/>
          <p:nvPr/>
        </p:nvGrpSpPr>
        <p:grpSpPr>
          <a:xfrm>
            <a:off x="235714" y="2523965"/>
            <a:ext cx="6396732" cy="794068"/>
            <a:chOff x="410226" y="1344294"/>
            <a:chExt cx="6396732" cy="794068"/>
          </a:xfrm>
        </p:grpSpPr>
        <p:sp>
          <p:nvSpPr>
            <p:cNvPr id="6" name="Rectangle 5">
              <a:extLst>
                <a:ext uri="{FF2B5EF4-FFF2-40B4-BE49-F238E27FC236}">
                  <a16:creationId xmlns:a16="http://schemas.microsoft.com/office/drawing/2014/main" id="{6C5DA588-42EF-ED0D-5337-2F3D60793AAB}"/>
                </a:ext>
              </a:extLst>
            </p:cNvPr>
            <p:cNvSpPr/>
            <p:nvPr/>
          </p:nvSpPr>
          <p:spPr>
            <a:xfrm>
              <a:off x="755666" y="1425575"/>
              <a:ext cx="6051292" cy="712787"/>
            </a:xfrm>
            <a:prstGeom prst="rect">
              <a:avLst/>
            </a:pr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a:lstStyle/>
            <a:p>
              <a:endParaRPr lang="en-GB"/>
            </a:p>
          </p:txBody>
        </p:sp>
        <p:sp>
          <p:nvSpPr>
            <p:cNvPr id="7" name="TextBox 6">
              <a:extLst>
                <a:ext uri="{FF2B5EF4-FFF2-40B4-BE49-F238E27FC236}">
                  <a16:creationId xmlns:a16="http://schemas.microsoft.com/office/drawing/2014/main" id="{12148844-6F9F-291B-D5E8-0829C2F7506E}"/>
                </a:ext>
              </a:extLst>
            </p:cNvPr>
            <p:cNvSpPr txBox="1"/>
            <p:nvPr/>
          </p:nvSpPr>
          <p:spPr>
            <a:xfrm>
              <a:off x="410226" y="1344294"/>
              <a:ext cx="6051292" cy="71278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5775" tIns="60960" rIns="60960" bIns="60960" numCol="1" spcCol="1270" rtlCol="0" anchor="ctr" anchorCtr="0">
              <a:noAutofit/>
            </a:bodyPr>
            <a:lstStyle/>
            <a:p>
              <a:pPr marL="0" lvl="0" indent="0" algn="l" defTabSz="1066800" rtl="0">
                <a:lnSpc>
                  <a:spcPct val="100000"/>
                </a:lnSpc>
                <a:spcBef>
                  <a:spcPct val="0"/>
                </a:spcBef>
                <a:spcAft>
                  <a:spcPct val="35000"/>
                </a:spcAft>
                <a:buNone/>
              </a:pPr>
              <a:r>
                <a:rPr lang="en-GB" sz="2400" b="1" kern="1200" dirty="0"/>
                <a:t>Sample Size</a:t>
              </a:r>
              <a:endParaRPr lang="en-GB" sz="2400" kern="1200" noProof="0" dirty="0"/>
            </a:p>
          </p:txBody>
        </p:sp>
      </p:grpSp>
    </p:spTree>
    <p:extLst>
      <p:ext uri="{BB962C8B-B14F-4D97-AF65-F5344CB8AC3E}">
        <p14:creationId xmlns:p14="http://schemas.microsoft.com/office/powerpoint/2010/main" val="2475305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0F87E73C-2B1A-4602-BFBE-CFE1E55D9B38}"/>
              </a:ext>
            </a:extLst>
          </p:cNvPr>
          <p:cNvSpPr>
            <a:spLocks noGrp="1" noRot="1" noMove="1" noResize="1" noEditPoints="1" noAdjustHandles="1" noChangeArrowheads="1" noChangeShapeType="1"/>
          </p:cNvSpPr>
          <p:nvPr>
            <p:ph type="ctrTitle"/>
          </p:nvPr>
        </p:nvSpPr>
        <p:spPr>
          <a:xfrm>
            <a:off x="8296275" y="1419226"/>
            <a:ext cx="3081576" cy="1746762"/>
          </a:xfrm>
        </p:spPr>
        <p:txBody>
          <a:bodyPr rtlCol="0">
            <a:normAutofit/>
          </a:bodyPr>
          <a:lstStyle/>
          <a:p>
            <a:pPr rtl="0"/>
            <a:r>
              <a:rPr lang="en-GB">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rtlCol="0">
            <a:normAutofit/>
          </a:bodyPr>
          <a:lstStyle/>
          <a:p>
            <a:pPr rtl="0"/>
            <a:endParaRPr lang="en-GB" dirty="0">
              <a:solidFill>
                <a:schemeClr val="bg2"/>
              </a:solidFill>
            </a:endParaRPr>
          </a:p>
          <a:p>
            <a:pPr rtl="0"/>
            <a:endParaRPr lang="en-GB" dirty="0">
              <a:solidFill>
                <a:schemeClr val="bg2"/>
              </a:solidFill>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9668_TF56390039_Win32" id="{9B435FBB-37EF-4CC2-A2AA-2D5176A76904}" vid="{B037E65D-0BE2-4226-856A-90D3BD06C5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Tech design</Template>
  <TotalTime>138</TotalTime>
  <Words>636</Words>
  <Application>Microsoft Office PowerPoint</Application>
  <PresentationFormat>Widescreen</PresentationFormat>
  <Paragraphs>50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Calibri</vt:lpstr>
      <vt:lpstr>Gill Sans MT</vt:lpstr>
      <vt:lpstr>Wingdings 2</vt:lpstr>
      <vt:lpstr>Dividend</vt:lpstr>
      <vt:lpstr>BRAINPOWER</vt:lpstr>
      <vt:lpstr>architecture</vt:lpstr>
      <vt:lpstr>Justification for selection</vt:lpstr>
      <vt:lpstr>Phase 1 – Essay preparation </vt:lpstr>
      <vt:lpstr>Phase 2 – Essay capture</vt:lpstr>
      <vt:lpstr>Phase 3a – ocr eXTRACTION</vt:lpstr>
      <vt:lpstr>Phase 3b – ocr eXTRACTION</vt:lpstr>
      <vt:lpstr>Normalisation</vt:lpstr>
      <vt:lpstr>Feature Extraction</vt:lpstr>
      <vt:lpstr>Phase 4 – WORD AND ERROR RATE CALCULATIONS</vt:lpstr>
      <vt:lpstr>Limitations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asa dorville</dc:creator>
  <cp:lastModifiedBy>asa dorville</cp:lastModifiedBy>
  <cp:revision>5</cp:revision>
  <dcterms:created xsi:type="dcterms:W3CDTF">2026-06-29T01:38:37Z</dcterms:created>
  <dcterms:modified xsi:type="dcterms:W3CDTF">2026-06-29T03:56:55Z</dcterms:modified>
</cp:coreProperties>
</file>