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9"/>
  </p:notesMasterIdLst>
  <p:handoutMasterIdLst>
    <p:handoutMasterId r:id="rId10"/>
  </p:handoutMasterIdLst>
  <p:sldIdLst>
    <p:sldId id="256" r:id="rId2"/>
    <p:sldId id="261" r:id="rId3"/>
    <p:sldId id="258" r:id="rId4"/>
    <p:sldId id="259" r:id="rId5"/>
    <p:sldId id="262" r:id="rId6"/>
    <p:sldId id="263" r:id="rId7"/>
    <p:sldId id="260" r:id="rId8"/>
  </p:sldIdLst>
  <p:sldSz cx="12192000" cy="6858000"/>
  <p:notesSz cx="6858000" cy="9144000"/>
  <p:defaultTextStyle>
    <a:defPPr rtl="0">
      <a:defRPr lang="en-GB"/>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1671" autoAdjust="0"/>
  </p:normalViewPr>
  <p:slideViewPr>
    <p:cSldViewPr snapToGrid="0">
      <p:cViewPr varScale="1">
        <p:scale>
          <a:sx n="79" d="100"/>
          <a:sy n="79" d="100"/>
        </p:scale>
        <p:origin x="1830" y="9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GB"/>
        </a:p>
      </dgm:t>
    </dgm:pt>
    <dgm:pt modelId="{8994D886-A75F-411A-A9D7-D31991FF12BD}" type="pres">
      <dgm:prSet presAssocID="{7D9C16A6-8C48-4165-8DAF-8C957C12A8FA}" presName="root" presStyleCnt="0">
        <dgm:presLayoutVars>
          <dgm:dir/>
          <dgm:resizeHandles val="exact"/>
        </dgm:presLayoutVars>
      </dgm:prSet>
      <dgm:spPr/>
    </dgm:pt>
  </dgm:ptLst>
  <dgm:cxnLst>
    <dgm:cxn modelId="{5574CC64-4BF2-43BE-BABC-6DF1E58A4C74}" type="presOf" srcId="{7D9C16A6-8C48-4165-8DAF-8C957C12A8FA}" destId="{8994D886-A75F-411A-A9D7-D31991FF12BD}" srcOrd="0"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en-GB" noProof="0" dirty="0"/>
            <a:t>No perfect solutions	</a:t>
          </a:r>
        </a:p>
      </dgm:t>
    </dgm:pt>
    <dgm:pt modelId="{720680DC-AAA4-4434-A582-60EBCC5BA355}" type="parTrans" cxnId="{0B5DAE5F-BCDC-4BF7-A6E7-CF856886A64D}">
      <dgm:prSet/>
      <dgm:spPr/>
      <dgm:t>
        <a:bodyPr rtlCol="0"/>
        <a:lstStyle/>
        <a:p>
          <a:pPr rtl="0"/>
          <a:endParaRPr lang="en-GB" noProof="0" dirty="0"/>
        </a:p>
      </dgm:t>
    </dgm:pt>
    <dgm:pt modelId="{CA077D98-8478-47EA-B6A9-99ACE60C64D4}" type="sibTrans" cxnId="{0B5DAE5F-BCDC-4BF7-A6E7-CF856886A64D}">
      <dgm:prSet/>
      <dgm:spPr/>
      <dgm:t>
        <a:bodyPr rtlCol="0"/>
        <a:lstStyle/>
        <a:p>
          <a:pPr rtl="0"/>
          <a:endParaRPr lang="en-GB" noProof="0" dirty="0"/>
        </a:p>
      </dgm:t>
    </dgm:pt>
    <dgm:pt modelId="{0BEF68B8-1228-47BB-83B5-7B9CD1E3F84E}">
      <dgm:prSet phldrT="[Text]"/>
      <dgm:spPr/>
      <dgm:t>
        <a:bodyPr rtlCol="0"/>
        <a:lstStyle/>
        <a:p>
          <a:pPr rtl="0">
            <a:lnSpc>
              <a:spcPct val="100000"/>
            </a:lnSpc>
          </a:pPr>
          <a:r>
            <a:rPr lang="en-US" noProof="0" dirty="0"/>
            <a:t>Little to no consideration for accessibility</a:t>
          </a:r>
          <a:endParaRPr lang="en-GB" noProof="0" dirty="0"/>
        </a:p>
      </dgm:t>
    </dgm:pt>
    <dgm:pt modelId="{ED3A4BC2-B75A-4952-A38B-A42B5995DF05}" type="parTrans" cxnId="{EDEF4F82-1237-4639-A0F7-385C1897CE66}">
      <dgm:prSet/>
      <dgm:spPr/>
      <dgm:t>
        <a:bodyPr rtlCol="0"/>
        <a:lstStyle/>
        <a:p>
          <a:pPr rtl="0"/>
          <a:endParaRPr lang="en-GB" noProof="0" dirty="0"/>
        </a:p>
      </dgm:t>
    </dgm:pt>
    <dgm:pt modelId="{FD949706-EDCC-4ADC-8EDF-8EDA49C92325}" type="sibTrans" cxnId="{EDEF4F82-1237-4639-A0F7-385C1897CE66}">
      <dgm:prSet/>
      <dgm:spPr/>
      <dgm:t>
        <a:bodyPr rtlCol="0"/>
        <a:lstStyle/>
        <a:p>
          <a:pPr rtl="0"/>
          <a:endParaRPr lang="en-GB" noProof="0" dirty="0"/>
        </a:p>
      </dgm:t>
    </dgm:pt>
    <dgm:pt modelId="{5605D28D-2CE6-4513-8566-952984E21E14}">
      <dgm:prSet phldrT="[Text]"/>
      <dgm:spPr/>
      <dgm:t>
        <a:bodyPr rtlCol="0"/>
        <a:lstStyle/>
        <a:p>
          <a:pPr rtl="0">
            <a:lnSpc>
              <a:spcPct val="100000"/>
            </a:lnSpc>
          </a:pPr>
          <a:r>
            <a:rPr lang="en-GB" noProof="0" dirty="0"/>
            <a:t>Need for multi-modal orchestration</a:t>
          </a:r>
        </a:p>
      </dgm:t>
    </dgm:pt>
    <dgm:pt modelId="{EB15AB98-362B-4E70-A3DA-995FC3E8BA79}" type="parTrans" cxnId="{FAF3F884-F0CF-440F-8CB1-B7648AB1B138}">
      <dgm:prSet/>
      <dgm:spPr/>
      <dgm:t>
        <a:bodyPr rtlCol="0"/>
        <a:lstStyle/>
        <a:p>
          <a:pPr rtl="0"/>
          <a:endParaRPr lang="en-GB" noProof="0" dirty="0"/>
        </a:p>
      </dgm:t>
    </dgm:pt>
    <dgm:pt modelId="{823D1971-2C4D-4EC5-A874-2F463DE37109}" type="sibTrans" cxnId="{FAF3F884-F0CF-440F-8CB1-B7648AB1B138}">
      <dgm:prSet/>
      <dgm:spPr/>
      <dgm:t>
        <a:bodyPr rtlCol="0"/>
        <a:lstStyle/>
        <a:p>
          <a:pPr rtl="0"/>
          <a:endParaRPr lang="en-GB"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custLinFactNeighborX="-604">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E131CE4A-9776-44F4-BC03-867682E21374}" type="pres">
      <dgm:prSet presAssocID="{5605D28D-2CE6-4513-8566-952984E21E14}" presName="text_3" presStyleLbl="node1" presStyleIdx="2" presStyleCnt="3" custLinFactNeighborX="124" custLinFactNeighborY="-5131">
        <dgm:presLayoutVars>
          <dgm:bulletEnabled val="1"/>
        </dgm:presLayoutVars>
      </dgm:prSet>
      <dgm:spPr/>
    </dgm:pt>
    <dgm:pt modelId="{AC9A216A-8375-48F9-A4E6-8E0B64C0209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7084AA77-BACB-46CB-AE4A-77B62D3ED1AF}" type="presOf" srcId="{5605D28D-2CE6-4513-8566-952984E21E14}" destId="{E131CE4A-9776-44F4-BC03-867682E21374}"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987EB7C0-CA3E-4874-85E0-01E9060A2D35}" type="presParOf" srcId="{90561C55-3C6E-4D53-85E1-2C50BCDDA392}" destId="{E131CE4A-9776-44F4-BC03-867682E21374}" srcOrd="5" destOrd="0" presId="urn:microsoft.com/office/officeart/2008/layout/VerticalCurvedList"/>
    <dgm:cxn modelId="{91E55363-8DCA-455E-A203-06A9410994CB}" type="presParOf" srcId="{90561C55-3C6E-4D53-85E1-2C50BCDDA392}" destId="{AC9A216A-8375-48F9-A4E6-8E0B64C0209B}" srcOrd="6" destOrd="0" presId="urn:microsoft.com/office/officeart/2008/layout/VerticalCurvedList"/>
    <dgm:cxn modelId="{D866D586-1293-4049-B6E3-B467C1D5ED64}" type="presParOf" srcId="{AC9A216A-8375-48F9-A4E6-8E0B64C0209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en-GB" noProof="0" dirty="0"/>
            <a:t>Audio (speech-to-text)	</a:t>
          </a:r>
        </a:p>
      </dgm:t>
    </dgm:pt>
    <dgm:pt modelId="{720680DC-AAA4-4434-A582-60EBCC5BA355}" type="parTrans" cxnId="{0B5DAE5F-BCDC-4BF7-A6E7-CF856886A64D}">
      <dgm:prSet/>
      <dgm:spPr/>
      <dgm:t>
        <a:bodyPr rtlCol="0"/>
        <a:lstStyle/>
        <a:p>
          <a:pPr rtl="0"/>
          <a:endParaRPr lang="en-GB" noProof="0" dirty="0"/>
        </a:p>
      </dgm:t>
    </dgm:pt>
    <dgm:pt modelId="{CA077D98-8478-47EA-B6A9-99ACE60C64D4}" type="sibTrans" cxnId="{0B5DAE5F-BCDC-4BF7-A6E7-CF856886A64D}">
      <dgm:prSet/>
      <dgm:spPr/>
      <dgm:t>
        <a:bodyPr rtlCol="0"/>
        <a:lstStyle/>
        <a:p>
          <a:pPr rtl="0"/>
          <a:endParaRPr lang="en-GB" noProof="0" dirty="0"/>
        </a:p>
      </dgm:t>
    </dgm:pt>
    <dgm:pt modelId="{0BEF68B8-1228-47BB-83B5-7B9CD1E3F84E}">
      <dgm:prSet phldrT="[Text]"/>
      <dgm:spPr/>
      <dgm:t>
        <a:bodyPr rtlCol="0"/>
        <a:lstStyle/>
        <a:p>
          <a:pPr rtl="0">
            <a:lnSpc>
              <a:spcPct val="100000"/>
            </a:lnSpc>
          </a:pPr>
          <a:r>
            <a:rPr lang="en-US" noProof="0" dirty="0"/>
            <a:t>Image (OCR)</a:t>
          </a:r>
          <a:endParaRPr lang="en-GB" noProof="0" dirty="0"/>
        </a:p>
      </dgm:t>
    </dgm:pt>
    <dgm:pt modelId="{ED3A4BC2-B75A-4952-A38B-A42B5995DF05}" type="parTrans" cxnId="{EDEF4F82-1237-4639-A0F7-385C1897CE66}">
      <dgm:prSet/>
      <dgm:spPr/>
      <dgm:t>
        <a:bodyPr rtlCol="0"/>
        <a:lstStyle/>
        <a:p>
          <a:pPr rtl="0"/>
          <a:endParaRPr lang="en-GB" noProof="0" dirty="0"/>
        </a:p>
      </dgm:t>
    </dgm:pt>
    <dgm:pt modelId="{FD949706-EDCC-4ADC-8EDF-8EDA49C92325}" type="sibTrans" cxnId="{EDEF4F82-1237-4639-A0F7-385C1897CE66}">
      <dgm:prSet/>
      <dgm:spPr/>
      <dgm:t>
        <a:bodyPr rtlCol="0"/>
        <a:lstStyle/>
        <a:p>
          <a:pPr rtl="0"/>
          <a:endParaRPr lang="en-GB" noProof="0" dirty="0"/>
        </a:p>
      </dgm:t>
    </dgm:pt>
    <dgm:pt modelId="{5605D28D-2CE6-4513-8566-952984E21E14}">
      <dgm:prSet phldrT="[Text]"/>
      <dgm:spPr/>
      <dgm:t>
        <a:bodyPr rtlCol="0"/>
        <a:lstStyle/>
        <a:p>
          <a:pPr rtl="0">
            <a:lnSpc>
              <a:spcPct val="100000"/>
            </a:lnSpc>
          </a:pPr>
          <a:r>
            <a:rPr lang="en-GB" noProof="0" dirty="0"/>
            <a:t>Text evaluation (Transformer AES)</a:t>
          </a:r>
        </a:p>
      </dgm:t>
    </dgm:pt>
    <dgm:pt modelId="{EB15AB98-362B-4E70-A3DA-995FC3E8BA79}" type="parTrans" cxnId="{FAF3F884-F0CF-440F-8CB1-B7648AB1B138}">
      <dgm:prSet/>
      <dgm:spPr/>
      <dgm:t>
        <a:bodyPr rtlCol="0"/>
        <a:lstStyle/>
        <a:p>
          <a:pPr rtl="0"/>
          <a:endParaRPr lang="en-GB" noProof="0" dirty="0"/>
        </a:p>
      </dgm:t>
    </dgm:pt>
    <dgm:pt modelId="{823D1971-2C4D-4EC5-A874-2F463DE37109}" type="sibTrans" cxnId="{FAF3F884-F0CF-440F-8CB1-B7648AB1B138}">
      <dgm:prSet/>
      <dgm:spPr/>
      <dgm:t>
        <a:bodyPr rtlCol="0"/>
        <a:lstStyle/>
        <a:p>
          <a:pPr rtl="0"/>
          <a:endParaRPr lang="en-GB"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7BA070DD-68D1-4E02-B691-BD65A07FF71D}" type="pres">
      <dgm:prSet presAssocID="{0BEF68B8-1228-47BB-83B5-7B9CD1E3F84E}" presName="text_2" presStyleLbl="node1" presStyleIdx="1" presStyleCnt="3">
        <dgm:presLayoutVars>
          <dgm:bulletEnabled val="1"/>
        </dgm:presLayoutVars>
      </dgm:prSet>
      <dgm:spPr/>
    </dgm:pt>
    <dgm:pt modelId="{9C1706DC-40E4-4DA2-8CF8-34B09656E136}"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047D7F30-4C2B-4905-9E8C-4B53F300116F}" type="pres">
      <dgm:prSet presAssocID="{5605D28D-2CE6-4513-8566-952984E21E14}" presName="text_3" presStyleLbl="node1" presStyleIdx="2" presStyleCnt="3">
        <dgm:presLayoutVars>
          <dgm:bulletEnabled val="1"/>
        </dgm:presLayoutVars>
      </dgm:prSet>
      <dgm:spPr/>
    </dgm:pt>
    <dgm:pt modelId="{5B1D9BD9-6E81-404A-8AAC-B50DE04E2CFF}"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3D199325-7C25-4245-A84C-C1A91C435F75}" type="presOf" srcId="{0BEF68B8-1228-47BB-83B5-7B9CD1E3F84E}" destId="{7BA070DD-68D1-4E02-B691-BD65A07FF71D}"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20BACAEC-FFD4-4FBC-B39E-77DFE407D9B2}" type="presOf" srcId="{5605D28D-2CE6-4513-8566-952984E21E14}" destId="{047D7F30-4C2B-4905-9E8C-4B53F300116F}"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C1FEDB35-CFA4-417F-ABD0-0066919EDD8A}" type="presParOf" srcId="{90561C55-3C6E-4D53-85E1-2C50BCDDA392}" destId="{7BA070DD-68D1-4E02-B691-BD65A07FF71D}" srcOrd="3" destOrd="0" presId="urn:microsoft.com/office/officeart/2008/layout/VerticalCurvedList"/>
    <dgm:cxn modelId="{68F923B5-0FD7-412B-9C64-BAE7994FCCCD}" type="presParOf" srcId="{90561C55-3C6E-4D53-85E1-2C50BCDDA392}" destId="{9C1706DC-40E4-4DA2-8CF8-34B09656E136}" srcOrd="4" destOrd="0" presId="urn:microsoft.com/office/officeart/2008/layout/VerticalCurvedList"/>
    <dgm:cxn modelId="{E06F7C78-BB04-4971-8C25-E8A1C85E0525}" type="presParOf" srcId="{9C1706DC-40E4-4DA2-8CF8-34B09656E136}" destId="{3F8116AC-FAC3-4E95-9865-93CCFEB191B9}" srcOrd="0" destOrd="0" presId="urn:microsoft.com/office/officeart/2008/layout/VerticalCurvedList"/>
    <dgm:cxn modelId="{0F5DCDBF-1241-4BE9-A72D-13ABDEFC8447}" type="presParOf" srcId="{90561C55-3C6E-4D53-85E1-2C50BCDDA392}" destId="{047D7F30-4C2B-4905-9E8C-4B53F300116F}" srcOrd="5" destOrd="0" presId="urn:microsoft.com/office/officeart/2008/layout/VerticalCurvedList"/>
    <dgm:cxn modelId="{52728DB4-A555-4451-AF54-E9C93EB16C7A}" type="presParOf" srcId="{90561C55-3C6E-4D53-85E1-2C50BCDDA392}" destId="{5B1D9BD9-6E81-404A-8AAC-B50DE04E2CFF}" srcOrd="6" destOrd="0" presId="urn:microsoft.com/office/officeart/2008/layout/VerticalCurvedList"/>
    <dgm:cxn modelId="{1FE31373-77CE-4594-8E7C-F48B137891A5}" type="presParOf" srcId="{5B1D9BD9-6E81-404A-8AAC-B50DE04E2CFF}"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7359365"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76200" rIns="76200" bIns="76200" numCol="1" spcCol="1270" rtlCol="0" anchor="ctr" anchorCtr="0">
          <a:noAutofit/>
        </a:bodyPr>
        <a:lstStyle/>
        <a:p>
          <a:pPr marL="0" lvl="0" indent="0" algn="l" defTabSz="1333500" rtl="0">
            <a:lnSpc>
              <a:spcPct val="100000"/>
            </a:lnSpc>
            <a:spcBef>
              <a:spcPct val="0"/>
            </a:spcBef>
            <a:spcAft>
              <a:spcPct val="35000"/>
            </a:spcAft>
            <a:buNone/>
          </a:pPr>
          <a:r>
            <a:rPr lang="en-GB" sz="3000" kern="1200" noProof="0" dirty="0"/>
            <a:t>No perfect solutions	</a:t>
          </a:r>
        </a:p>
      </dsp:txBody>
      <dsp:txXfrm>
        <a:off x="496568" y="356393"/>
        <a:ext cx="7359365"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12780" y="1425575"/>
          <a:ext cx="7100266"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76200" rIns="76200" bIns="76200" numCol="1" spcCol="1270" rtlCol="0" anchor="ctr" anchorCtr="0">
          <a:noAutofit/>
        </a:bodyPr>
        <a:lstStyle/>
        <a:p>
          <a:pPr marL="0" lvl="0" indent="0" algn="l" defTabSz="1333500" rtl="0">
            <a:lnSpc>
              <a:spcPct val="100000"/>
            </a:lnSpc>
            <a:spcBef>
              <a:spcPct val="0"/>
            </a:spcBef>
            <a:spcAft>
              <a:spcPct val="35000"/>
            </a:spcAft>
            <a:buNone/>
          </a:pPr>
          <a:r>
            <a:rPr lang="en-US" sz="3000" kern="1200" noProof="0" dirty="0"/>
            <a:t>Little to no consideration for accessibility</a:t>
          </a:r>
          <a:endParaRPr lang="en-GB" sz="3000" kern="1200" noProof="0" dirty="0"/>
        </a:p>
      </dsp:txBody>
      <dsp:txXfrm>
        <a:off x="712780" y="1425575"/>
        <a:ext cx="7100266"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E131CE4A-9776-44F4-BC03-867682E21374}">
      <dsp:nvSpPr>
        <dsp:cNvPr id="0" name=""/>
        <dsp:cNvSpPr/>
      </dsp:nvSpPr>
      <dsp:spPr>
        <a:xfrm>
          <a:off x="505693" y="2458183"/>
          <a:ext cx="7359365"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76200" rIns="76200" bIns="76200" numCol="1" spcCol="1270" rtlCol="0" anchor="ctr" anchorCtr="0">
          <a:noAutofit/>
        </a:bodyPr>
        <a:lstStyle/>
        <a:p>
          <a:pPr marL="0" lvl="0" indent="0" algn="l" defTabSz="1333500" rtl="0">
            <a:lnSpc>
              <a:spcPct val="100000"/>
            </a:lnSpc>
            <a:spcBef>
              <a:spcPct val="0"/>
            </a:spcBef>
            <a:spcAft>
              <a:spcPct val="35000"/>
            </a:spcAft>
            <a:buNone/>
          </a:pPr>
          <a:r>
            <a:rPr lang="en-GB" sz="3000" kern="1200" noProof="0" dirty="0"/>
            <a:t>Need for multi-modal orchestration</a:t>
          </a:r>
        </a:p>
      </dsp:txBody>
      <dsp:txXfrm>
        <a:off x="505693" y="2458183"/>
        <a:ext cx="7359365"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7359365"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en-GB" sz="3500" kern="1200" noProof="0" dirty="0"/>
            <a:t>Audio (speech-to-text)	</a:t>
          </a:r>
        </a:p>
      </dsp:txBody>
      <dsp:txXfrm>
        <a:off x="496568" y="356393"/>
        <a:ext cx="7359365"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7BA070DD-68D1-4E02-B691-BD65A07FF71D}">
      <dsp:nvSpPr>
        <dsp:cNvPr id="0" name=""/>
        <dsp:cNvSpPr/>
      </dsp:nvSpPr>
      <dsp:spPr>
        <a:xfrm>
          <a:off x="755666" y="1425575"/>
          <a:ext cx="7100266"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en-US" sz="3500" kern="1200" noProof="0" dirty="0"/>
            <a:t>Image (OCR)</a:t>
          </a:r>
          <a:endParaRPr lang="en-GB" sz="3500" kern="1200" noProof="0" dirty="0"/>
        </a:p>
      </dsp:txBody>
      <dsp:txXfrm>
        <a:off x="755666" y="1425575"/>
        <a:ext cx="7100266"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047D7F30-4C2B-4905-9E8C-4B53F300116F}">
      <dsp:nvSpPr>
        <dsp:cNvPr id="0" name=""/>
        <dsp:cNvSpPr/>
      </dsp:nvSpPr>
      <dsp:spPr>
        <a:xfrm>
          <a:off x="496568" y="2494756"/>
          <a:ext cx="7359365"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en-GB" sz="3500" kern="1200" noProof="0" dirty="0"/>
            <a:t>Text evaluation (Transformer AES)</a:t>
          </a:r>
        </a:p>
      </dsp:txBody>
      <dsp:txXfrm>
        <a:off x="496568" y="2494756"/>
        <a:ext cx="7359365"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ADBC529-8773-4D02-8CFA-ADB515C5CBA3}" type="datetime1">
              <a:rPr lang="en-GB" smtClean="0"/>
              <a:t>16/05/2026</a:t>
            </a:fld>
            <a:endParaRPr lang="en-GB"/>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en-GB" smtClean="0"/>
              <a:t>‹#›</a:t>
            </a:fld>
            <a:endParaRPr lang="en-GB"/>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4777525A-FAFB-4452-AC36-0F7189B7A6A9}" type="datetime1">
              <a:rPr lang="en-GB" noProof="0" smtClean="0"/>
              <a:t>16/05/2026</a:t>
            </a:fld>
            <a:endParaRPr lang="en-GB"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GB"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n-GB" noProof="0"/>
              <a:t>Click to 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en-GB" noProof="0" smtClean="0"/>
              <a:t>‹#›</a:t>
            </a:fld>
            <a:endParaRPr lang="en-GB"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rtlCol="0"/>
          <a:lstStyle/>
          <a:p>
            <a:pPr rtl="0"/>
            <a:r>
              <a:rPr lang="en-US" dirty="0"/>
              <a:t>Hi, I am Asa Dorville and this is a presentation of my project proposal. I chose the project idea: 4.1 - Orchestrating AI models to achieve a goal</a:t>
            </a:r>
            <a:endParaRPr lang="en-GB" dirty="0"/>
          </a:p>
        </p:txBody>
      </p:sp>
      <p:sp>
        <p:nvSpPr>
          <p:cNvPr id="4" name="Slide Number Placeholder 3"/>
          <p:cNvSpPr>
            <a:spLocks noGrp="1"/>
          </p:cNvSpPr>
          <p:nvPr>
            <p:ph type="sldNum" sz="quarter" idx="5"/>
          </p:nvPr>
        </p:nvSpPr>
        <p:spPr/>
        <p:txBody>
          <a:bodyPr rtlCol="0"/>
          <a:lstStyle/>
          <a:p>
            <a:pPr rtl="0"/>
            <a:fld id="{C6B3AB32-59DF-41F1-9618-EDFBF5049629}" type="slidenum">
              <a:rPr lang="en-GB" smtClean="0"/>
              <a:t>1</a:t>
            </a:fld>
            <a:endParaRPr lang="en-GB"/>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rtlCol="0"/>
          <a:lstStyle/>
          <a:p>
            <a:pPr rtl="0"/>
            <a:r>
              <a:rPr lang="en-GB" sz="1200" kern="1200" dirty="0">
                <a:solidFill>
                  <a:schemeClr val="tx1"/>
                </a:solidFill>
                <a:effectLst/>
                <a:latin typeface="+mn-lt"/>
                <a:ea typeface="+mn-ea"/>
                <a:cs typeface="+mn-cs"/>
              </a:rPr>
              <a:t>I am a teacher and personally understand the stressful, time-consuming ordeal that my colleagues and I must endure when marking answers to open-ended questions. It is impossible to remove bias and inconsistency from the marking process due to inherent human traits. There is also no provision besides an assigned scribe being made available to cater to students who can speak but are unable to write or type due to disability. This arrangement although well intentioned, is time consuming and intimidating to some students</a:t>
            </a:r>
            <a:endParaRPr lang="en-GB" dirty="0"/>
          </a:p>
        </p:txBody>
      </p:sp>
      <p:sp>
        <p:nvSpPr>
          <p:cNvPr id="4" name="Slide Number Placeholder 3"/>
          <p:cNvSpPr>
            <a:spLocks noGrp="1"/>
          </p:cNvSpPr>
          <p:nvPr>
            <p:ph type="sldNum" sz="quarter" idx="5"/>
          </p:nvPr>
        </p:nvSpPr>
        <p:spPr/>
        <p:txBody>
          <a:bodyPr rtlCol="0"/>
          <a:lstStyle/>
          <a:p>
            <a:pPr rtl="0"/>
            <a:fld id="{C6B3AB32-59DF-41F1-9618-EDFBF5049629}" type="slidenum">
              <a:rPr lang="en-GB" smtClean="0"/>
              <a:t>2</a:t>
            </a:fld>
            <a:endParaRPr lang="en-GB"/>
          </a:p>
        </p:txBody>
      </p:sp>
    </p:spTree>
    <p:extLst>
      <p:ext uri="{BB962C8B-B14F-4D97-AF65-F5344CB8AC3E}">
        <p14:creationId xmlns:p14="http://schemas.microsoft.com/office/powerpoint/2010/main" val="43192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1200" dirty="0">
                <a:solidFill>
                  <a:schemeClr val="tx1"/>
                </a:solidFill>
                <a:effectLst/>
                <a:latin typeface="+mn-lt"/>
                <a:ea typeface="+mn-ea"/>
                <a:cs typeface="+mn-cs"/>
              </a:rPr>
              <a:t>[1] divided AES systems into two categories:</a:t>
            </a:r>
          </a:p>
          <a:p>
            <a:pPr lvl="0"/>
            <a:r>
              <a:rPr lang="en-GB" sz="1200" kern="1200" dirty="0">
                <a:solidFill>
                  <a:schemeClr val="tx1"/>
                </a:solidFill>
                <a:effectLst/>
                <a:latin typeface="+mn-lt"/>
                <a:ea typeface="+mn-ea"/>
                <a:cs typeface="+mn-cs"/>
              </a:rPr>
              <a:t>Systems that use feature engineering models with handcrafted features</a:t>
            </a:r>
          </a:p>
          <a:p>
            <a:pPr lvl="0"/>
            <a:r>
              <a:rPr lang="en-GB" sz="1200" kern="1200" dirty="0">
                <a:solidFill>
                  <a:schemeClr val="tx1"/>
                </a:solidFill>
                <a:effectLst/>
                <a:latin typeface="+mn-lt"/>
                <a:ea typeface="+mn-ea"/>
                <a:cs typeface="+mn-cs"/>
              </a:rPr>
              <a:t>Systems with neural approaches that can extract features automatically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[1] Project Essay Grader TM (PEG) used supervised learning with linear regression and leveraged the benefits of handcrafted features. The E-Rater system [3] employed linear regression to identify crucial features for predicting essay scores. [2] indicated that reliance on surface-level textual features such as sentence length and word frequency, limited handmade systems in capturing semantic meaning and conceptual quality. [5] concluded that although the deep learning-based systems performed better overall, improvement with respect to modelling complex linguistic and cognitive qualities inherent in essays was not significant. .  [4] carried out a comparative study on the performance of LSTM, Bi-LSTM and BERT and concluded that BERT demonstrated superior performance. [6] transformer-based models have better scoring accuracy due to their ability to analyse text more thoroughly interpreting connections between words even when they are not in proximity. </a:t>
            </a:r>
          </a:p>
          <a:p>
            <a:endParaRPr lang="en-GB" dirty="0"/>
          </a:p>
        </p:txBody>
      </p:sp>
      <p:sp>
        <p:nvSpPr>
          <p:cNvPr id="4" name="Slide Number Placeholder 3"/>
          <p:cNvSpPr>
            <a:spLocks noGrp="1"/>
          </p:cNvSpPr>
          <p:nvPr>
            <p:ph type="sldNum" sz="quarter" idx="5"/>
          </p:nvPr>
        </p:nvSpPr>
        <p:spPr/>
        <p:txBody>
          <a:bodyPr/>
          <a:lstStyle/>
          <a:p>
            <a:pPr rtl="0"/>
            <a:fld id="{C6B3AB32-59DF-41F1-9618-EDFBF5049629}" type="slidenum">
              <a:rPr lang="en-GB" smtClean="0"/>
              <a:t>3</a:t>
            </a:fld>
            <a:endParaRPr lang="en-GB"/>
          </a:p>
        </p:txBody>
      </p:sp>
    </p:spTree>
    <p:extLst>
      <p:ext uri="{BB962C8B-B14F-4D97-AF65-F5344CB8AC3E}">
        <p14:creationId xmlns:p14="http://schemas.microsoft.com/office/powerpoint/2010/main" val="21305515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Studies such as [1] have indicated that aspects of an essay that refer to its content quality, such as coherence and persuasiveness are still very difficult to be effectively estimated even by an AES system. Even after extensive research spanning more than two decades in AES, no single model has achieved near-perfect accuracy in scoring sufficient to replace human scorers. Consequently, AES remains an open research problem. [1] suggests not relying solely on transformer models and like [2], proposed a technique of combining transformers with more traditional approaches like those that employ handcrafted features. [2] indicated that when models work in combination the results are more promising. [7] used a hybrid model – LSTM and Word Embedding and achieved a QWK of 0.94. </a:t>
            </a:r>
          </a:p>
          <a:p>
            <a:pPr rtl="0"/>
            <a:endParaRPr lang="en-GB" dirty="0"/>
          </a:p>
        </p:txBody>
      </p:sp>
      <p:sp>
        <p:nvSpPr>
          <p:cNvPr id="4" name="Slide Number Placeholder 3"/>
          <p:cNvSpPr>
            <a:spLocks noGrp="1"/>
          </p:cNvSpPr>
          <p:nvPr>
            <p:ph type="sldNum" sz="quarter" idx="5"/>
          </p:nvPr>
        </p:nvSpPr>
        <p:spPr/>
        <p:txBody>
          <a:bodyPr rtlCol="0"/>
          <a:lstStyle/>
          <a:p>
            <a:pPr rtl="0"/>
            <a:fld id="{C6B3AB32-59DF-41F1-9618-EDFBF5049629}" type="slidenum">
              <a:rPr lang="en-GB" smtClean="0"/>
              <a:t>4</a:t>
            </a:fld>
            <a:endParaRPr lang="en-GB"/>
          </a:p>
        </p:txBody>
      </p:sp>
    </p:spTree>
    <p:extLst>
      <p:ext uri="{BB962C8B-B14F-4D97-AF65-F5344CB8AC3E}">
        <p14:creationId xmlns:p14="http://schemas.microsoft.com/office/powerpoint/2010/main" val="350511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8F893-E81E-89BF-523E-EF0C9A3CC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36A3C-FF85-64F8-AD72-3DD3C35BFC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7A097-2034-0027-9458-A788A475858C}"/>
              </a:ext>
            </a:extLst>
          </p:cNvPr>
          <p:cNvSpPr>
            <a:spLocks noGrp="1"/>
          </p:cNvSpPr>
          <p:nvPr>
            <p:ph type="body" idx="1"/>
          </p:nvPr>
        </p:nvSpPr>
        <p:spPr/>
        <p:txBody>
          <a:bodyPr rtlCol="0"/>
          <a:lstStyle/>
          <a:p>
            <a:r>
              <a:rPr lang="en-GB" sz="1200" kern="1200" dirty="0">
                <a:solidFill>
                  <a:schemeClr val="tx1"/>
                </a:solidFill>
                <a:effectLst/>
                <a:latin typeface="+mn-lt"/>
                <a:ea typeface="+mn-ea"/>
                <a:cs typeface="+mn-cs"/>
              </a:rPr>
              <a:t>Therefore, this research proposes a hybrid approach, supported by the conclusion reached by [1], [2] and [7] after evaluating the performance of stand-alone models in comparison to them. This proposed model will leverage the capabilities of three pretrained models:</a:t>
            </a:r>
          </a:p>
          <a:p>
            <a:endParaRPr lang="en-GB" sz="1200" kern="1200" dirty="0">
              <a:solidFill>
                <a:schemeClr val="tx1"/>
              </a:solidFill>
              <a:effectLst/>
              <a:latin typeface="+mn-lt"/>
              <a:ea typeface="+mn-ea"/>
              <a:cs typeface="+mn-cs"/>
            </a:endParaRPr>
          </a:p>
          <a:p>
            <a:pPr marL="171450" lvl="0" indent="-171450">
              <a:buFont typeface="Arial" panose="020B0604020202020204" pitchFamily="34" charset="0"/>
              <a:buChar char="•"/>
            </a:pPr>
            <a:r>
              <a:rPr lang="en-GB" sz="1200" kern="1200" dirty="0">
                <a:solidFill>
                  <a:schemeClr val="tx1"/>
                </a:solidFill>
                <a:effectLst/>
                <a:latin typeface="+mn-lt"/>
                <a:ea typeface="+mn-ea"/>
                <a:cs typeface="+mn-cs"/>
              </a:rPr>
              <a:t>A speech-to-text model: to capture answers provided in audio format and convert these to digital text for analysis by the AES system for evaluation. The researcher envisages will assist students who are unable to write but have the capacity to verbally express themselves allowing for equal opportunity in the classroom. </a:t>
            </a:r>
          </a:p>
          <a:p>
            <a:pPr marL="171450" lvl="0" indent="-171450">
              <a:buFont typeface="Arial" panose="020B0604020202020204" pitchFamily="34" charset="0"/>
              <a:buChar char="•"/>
            </a:pPr>
            <a:r>
              <a:rPr lang="en-GB" sz="1200" kern="1200" dirty="0">
                <a:solidFill>
                  <a:schemeClr val="tx1"/>
                </a:solidFill>
                <a:effectLst/>
                <a:latin typeface="+mn-lt"/>
                <a:ea typeface="+mn-ea"/>
                <a:cs typeface="+mn-cs"/>
              </a:rPr>
              <a:t>An image-to-text model: to perform optical character recognition from scanned documents or textual data from images for analysis by the AES system. Even with technological advancements, it is unlikely that handwriting will ever become outdated or obsolete. </a:t>
            </a:r>
          </a:p>
          <a:p>
            <a:pPr marL="171450" lvl="0" indent="-171450">
              <a:buFont typeface="Arial" panose="020B0604020202020204" pitchFamily="34" charset="0"/>
              <a:buChar char="•"/>
            </a:pPr>
            <a:r>
              <a:rPr lang="en-GB" sz="1200" kern="1200" dirty="0">
                <a:solidFill>
                  <a:schemeClr val="tx1"/>
                </a:solidFill>
                <a:effectLst/>
                <a:latin typeface="+mn-lt"/>
                <a:ea typeface="+mn-ea"/>
                <a:cs typeface="+mn-cs"/>
              </a:rPr>
              <a:t>A transformer model: to perform contextual, semantic and coherence analysis in support of holistic essay scoring. This component forms the core analytical engine of the proposed system since final essay evaluation will depend primarily on its contextual and semantic assessment capabilities.</a:t>
            </a:r>
          </a:p>
          <a:p>
            <a:pPr marL="171450" lvl="0" indent="-171450">
              <a:buFont typeface="Arial" panose="020B0604020202020204" pitchFamily="34" charset="0"/>
              <a:buChar char="•"/>
            </a:pP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Output from the speech-to-text and image-to-text models will be transformed into machine-readable text and fed as input to the transformer model for contextual and semantic analysis and final holistic scoring. This proposed 3-model architecture, aims to investigate whether a hybrid multi-modal system can improve the accessibility, consistency and reliability of AES systems. </a:t>
            </a:r>
          </a:p>
          <a:p>
            <a:pPr rtl="0"/>
            <a:endParaRPr lang="en-GB" dirty="0"/>
          </a:p>
        </p:txBody>
      </p:sp>
      <p:sp>
        <p:nvSpPr>
          <p:cNvPr id="4" name="Slide Number Placeholder 3">
            <a:extLst>
              <a:ext uri="{FF2B5EF4-FFF2-40B4-BE49-F238E27FC236}">
                <a16:creationId xmlns:a16="http://schemas.microsoft.com/office/drawing/2014/main" id="{3EA42A25-5711-EE89-D439-19C024DB5583}"/>
              </a:ext>
            </a:extLst>
          </p:cNvPr>
          <p:cNvSpPr>
            <a:spLocks noGrp="1"/>
          </p:cNvSpPr>
          <p:nvPr>
            <p:ph type="sldNum" sz="quarter" idx="5"/>
          </p:nvPr>
        </p:nvSpPr>
        <p:spPr/>
        <p:txBody>
          <a:bodyPr rtlCol="0"/>
          <a:lstStyle/>
          <a:p>
            <a:pPr rtl="0"/>
            <a:fld id="{C6B3AB32-59DF-41F1-9618-EDFBF5049629}" type="slidenum">
              <a:rPr lang="en-GB" smtClean="0"/>
              <a:t>5</a:t>
            </a:fld>
            <a:endParaRPr lang="en-GB"/>
          </a:p>
        </p:txBody>
      </p:sp>
    </p:spTree>
    <p:extLst>
      <p:ext uri="{BB962C8B-B14F-4D97-AF65-F5344CB8AC3E}">
        <p14:creationId xmlns:p14="http://schemas.microsoft.com/office/powerpoint/2010/main" val="24536115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rtlCol="0"/>
          <a:lstStyle/>
          <a:p>
            <a:pPr rtl="0"/>
            <a:endParaRPr lang="en-GB"/>
          </a:p>
        </p:txBody>
      </p:sp>
      <p:sp>
        <p:nvSpPr>
          <p:cNvPr id="4" name="Slide Number Placeholder 3"/>
          <p:cNvSpPr>
            <a:spLocks noGrp="1"/>
          </p:cNvSpPr>
          <p:nvPr>
            <p:ph type="sldNum" sz="quarter" idx="5"/>
          </p:nvPr>
        </p:nvSpPr>
        <p:spPr/>
        <p:txBody>
          <a:bodyPr rtlCol="0"/>
          <a:lstStyle/>
          <a:p>
            <a:pPr rtl="0"/>
            <a:fld id="{C6B3AB32-59DF-41F1-9618-EDFBF5049629}" type="slidenum">
              <a:rPr lang="en-GB" smtClean="0"/>
              <a:t>7</a:t>
            </a:fld>
            <a:endParaRPr lang="en-GB"/>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en-US" noProof="0"/>
              <a:t>Click to edit Master title style</a:t>
            </a:r>
            <a:endParaRPr lang="en-GB" noProof="0"/>
          </a:p>
        </p:txBody>
      </p:sp>
      <p:sp>
        <p:nvSpPr>
          <p:cNvPr id="3" name="Subtitl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en-US" noProof="0"/>
              <a:t>Click to edit Master subtitle style</a:t>
            </a:r>
            <a:endParaRPr lang="en-GB" noProof="0"/>
          </a:p>
        </p:txBody>
      </p:sp>
      <p:sp>
        <p:nvSpPr>
          <p:cNvPr id="4" name="Date Placeholder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03A4E85-D1CF-4174-8E96-0E716FE67106}" type="datetime1">
              <a:rPr lang="en-GB" noProof="0" smtClean="0"/>
              <a:t>16/05/2026</a:t>
            </a:fld>
            <a:endParaRPr lang="en-GB" noProof="0"/>
          </a:p>
        </p:txBody>
      </p:sp>
      <p:sp>
        <p:nvSpPr>
          <p:cNvPr id="5" name="Footer Placeholder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en-GB" noProof="0"/>
          </a:p>
        </p:txBody>
      </p:sp>
      <p:sp>
        <p:nvSpPr>
          <p:cNvPr id="6" name="Slide Number Placeholder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1"/>
          <p:cNvSpPr>
            <a:spLocks noGrp="1"/>
          </p:cNvSpPr>
          <p:nvPr>
            <p:ph type="title"/>
          </p:nvPr>
        </p:nvSpPr>
        <p:spPr>
          <a:xfrm>
            <a:off x="581192" y="702156"/>
            <a:ext cx="11029616" cy="1013800"/>
          </a:xfrm>
        </p:spPr>
        <p:txBody>
          <a:bodyPr rtlCol="0"/>
          <a:lstStyle/>
          <a:p>
            <a:pPr rtl="0"/>
            <a:r>
              <a:rPr lang="en-US" noProof="0"/>
              <a:t>Click to edit Master title style</a:t>
            </a:r>
            <a:endParaRPr lang="en-GB" noProof="0"/>
          </a:p>
        </p:txBody>
      </p:sp>
      <p:sp>
        <p:nvSpPr>
          <p:cNvPr id="3" name="Content Placeholder 2"/>
          <p:cNvSpPr>
            <a:spLocks noGrp="1"/>
          </p:cNvSpPr>
          <p:nvPr>
            <p:ph idx="1" hasCustomPrompt="1"/>
          </p:nvPr>
        </p:nvSpPr>
        <p:spPr>
          <a:xfrm>
            <a:off x="581192" y="2180496"/>
            <a:ext cx="11029615" cy="3678303"/>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4" name="Date Placeholder 3"/>
          <p:cNvSpPr>
            <a:spLocks noGrp="1"/>
          </p:cNvSpPr>
          <p:nvPr>
            <p:ph type="dt" sz="half" idx="10"/>
          </p:nvPr>
        </p:nvSpPr>
        <p:spPr/>
        <p:txBody>
          <a:bodyPr rtlCol="0"/>
          <a:lstStyle/>
          <a:p>
            <a:pPr rtl="0"/>
            <a:fld id="{E3DCA11A-9768-448A-88A0-EBE3646E26CE}" type="datetime1">
              <a:rPr lang="en-GB" noProof="0" smtClean="0"/>
              <a:t>16/05/2026</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a:xfrm>
            <a:off x="10558300" y="5956137"/>
            <a:ext cx="1052508" cy="365125"/>
          </a:xfrm>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en-US" noProof="0"/>
              <a:t>Click to edit Master title style</a:t>
            </a:r>
            <a:endParaRPr lang="en-GB" noProof="0"/>
          </a:p>
        </p:txBody>
      </p:sp>
      <p:sp>
        <p:nvSpPr>
          <p:cNvPr id="3" name="Text Placeholder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n-GB" noProof="0"/>
              <a:t>Edit Master text styles</a:t>
            </a:r>
          </a:p>
        </p:txBody>
      </p:sp>
      <p:sp>
        <p:nvSpPr>
          <p:cNvPr id="4" name="Date Placeholder 3"/>
          <p:cNvSpPr>
            <a:spLocks noGrp="1"/>
          </p:cNvSpPr>
          <p:nvPr>
            <p:ph type="dt" sz="half" idx="10"/>
          </p:nvPr>
        </p:nvSpPr>
        <p:spPr/>
        <p:txBody>
          <a:bodyPr rtlCol="0"/>
          <a:lstStyle>
            <a:lvl1pPr>
              <a:defRPr>
                <a:solidFill>
                  <a:schemeClr val="accent1">
                    <a:lumMod val="75000"/>
                    <a:lumOff val="25000"/>
                  </a:schemeClr>
                </a:solidFill>
              </a:defRPr>
            </a:lvl1pPr>
          </a:lstStyle>
          <a:p>
            <a:pPr rtl="0"/>
            <a:fld id="{1FEDAE78-A3F9-426C-8A41-9692E3443471}" type="datetime1">
              <a:rPr lang="en-GB" noProof="0" smtClean="0"/>
              <a:t>16/05/2026</a:t>
            </a:fld>
            <a:endParaRPr lang="en-GB" noProof="0"/>
          </a:p>
        </p:txBody>
      </p:sp>
      <p:sp>
        <p:nvSpPr>
          <p:cNvPr id="5" name="Footer Placeholder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en-GB" noProof="0"/>
          </a:p>
        </p:txBody>
      </p:sp>
      <p:sp>
        <p:nvSpPr>
          <p:cNvPr id="6" name="Slide Number Placeholder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1"/>
          <p:cNvSpPr>
            <a:spLocks noGrp="1"/>
          </p:cNvSpPr>
          <p:nvPr>
            <p:ph type="title"/>
          </p:nvPr>
        </p:nvSpPr>
        <p:spPr>
          <a:xfrm>
            <a:off x="581193" y="729658"/>
            <a:ext cx="11029616" cy="988332"/>
          </a:xfrm>
        </p:spPr>
        <p:txBody>
          <a:bodyPr rtlCol="0"/>
          <a:lstStyle/>
          <a:p>
            <a:pPr rtl="0"/>
            <a:r>
              <a:rPr lang="en-US" noProof="0"/>
              <a:t>Click to edit Master title style</a:t>
            </a:r>
            <a:endParaRPr lang="en-GB" noProof="0"/>
          </a:p>
        </p:txBody>
      </p:sp>
      <p:sp>
        <p:nvSpPr>
          <p:cNvPr id="3" name="Content Placeholder 2"/>
          <p:cNvSpPr>
            <a:spLocks noGrp="1"/>
          </p:cNvSpPr>
          <p:nvPr>
            <p:ph sz="half" idx="1" hasCustomPrompt="1"/>
          </p:nvPr>
        </p:nvSpPr>
        <p:spPr>
          <a:xfrm>
            <a:off x="581193" y="2228003"/>
            <a:ext cx="5422390" cy="3633047"/>
          </a:xfrm>
        </p:spPr>
        <p:txBody>
          <a:bodyPr rtlCol="0">
            <a:normAutofit/>
          </a:body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4" name="Content Placeholder 3"/>
          <p:cNvSpPr>
            <a:spLocks noGrp="1"/>
          </p:cNvSpPr>
          <p:nvPr>
            <p:ph sz="half" idx="2" hasCustomPrompt="1"/>
          </p:nvPr>
        </p:nvSpPr>
        <p:spPr>
          <a:xfrm>
            <a:off x="6188417" y="2228003"/>
            <a:ext cx="5422392" cy="3633047"/>
          </a:xfrm>
        </p:spPr>
        <p:txBody>
          <a:bodyPr rtlCol="0">
            <a:normAutofit/>
          </a:body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5" name="Date Placeholder 4"/>
          <p:cNvSpPr>
            <a:spLocks noGrp="1"/>
          </p:cNvSpPr>
          <p:nvPr>
            <p:ph type="dt" sz="half" idx="10"/>
          </p:nvPr>
        </p:nvSpPr>
        <p:spPr/>
        <p:txBody>
          <a:bodyPr rtlCol="0"/>
          <a:lstStyle/>
          <a:p>
            <a:pPr rtl="0"/>
            <a:fld id="{E17F9CBD-9AAB-4D08-A1FC-12CB5054CF84}" type="datetime1">
              <a:rPr lang="en-GB" noProof="0" smtClean="0"/>
              <a:t>16/05/2026</a:t>
            </a:fld>
            <a:endParaRPr lang="en-GB" noProof="0"/>
          </a:p>
        </p:txBody>
      </p:sp>
      <p:sp>
        <p:nvSpPr>
          <p:cNvPr id="6" name="Footer Placeholder 5"/>
          <p:cNvSpPr>
            <a:spLocks noGrp="1"/>
          </p:cNvSpPr>
          <p:nvPr>
            <p:ph type="ftr" sz="quarter" idx="11"/>
          </p:nvPr>
        </p:nvSpPr>
        <p:spPr/>
        <p:txBody>
          <a:bodyPr rtlCol="0"/>
          <a:lstStyle/>
          <a:p>
            <a:pPr rtl="0"/>
            <a:endParaRPr lang="en-GB" noProof="0"/>
          </a:p>
        </p:txBody>
      </p:sp>
      <p:sp>
        <p:nvSpPr>
          <p:cNvPr id="7" name="Slide Number Placeholder 6"/>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rtlCol="0"/>
          <a:lstStyle/>
          <a:p>
            <a:pPr rtl="0"/>
            <a:r>
              <a:rPr lang="en-US" noProof="0"/>
              <a:t>Click to edit Master title style</a:t>
            </a:r>
            <a:endParaRPr lang="en-GB" noProof="0"/>
          </a:p>
        </p:txBody>
      </p:sp>
      <p:sp>
        <p:nvSpPr>
          <p:cNvPr id="3" name="Text Placeholder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GB" noProof="0"/>
              <a:t>Edit Master text styles</a:t>
            </a:r>
          </a:p>
        </p:txBody>
      </p:sp>
      <p:sp>
        <p:nvSpPr>
          <p:cNvPr id="4" name="Content Placeholder 3"/>
          <p:cNvSpPr>
            <a:spLocks noGrp="1"/>
          </p:cNvSpPr>
          <p:nvPr>
            <p:ph sz="half" idx="2" hasCustomPrompt="1"/>
          </p:nvPr>
        </p:nvSpPr>
        <p:spPr>
          <a:xfrm>
            <a:off x="581194" y="2926052"/>
            <a:ext cx="5393100" cy="2934999"/>
          </a:xfrm>
        </p:spPr>
        <p:txBody>
          <a:bodyPr rtlCol="0" anchor="t">
            <a:normAutofit/>
          </a:body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5" name="Text Placeholder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n-GB" noProof="0"/>
              <a:t>Edit Master text styles</a:t>
            </a:r>
          </a:p>
        </p:txBody>
      </p:sp>
      <p:sp>
        <p:nvSpPr>
          <p:cNvPr id="6" name="Content Placeholder 5"/>
          <p:cNvSpPr>
            <a:spLocks noGrp="1"/>
          </p:cNvSpPr>
          <p:nvPr>
            <p:ph sz="quarter" idx="4" hasCustomPrompt="1"/>
          </p:nvPr>
        </p:nvSpPr>
        <p:spPr>
          <a:xfrm>
            <a:off x="6217709" y="2926052"/>
            <a:ext cx="5393100" cy="2934999"/>
          </a:xfrm>
        </p:spPr>
        <p:txBody>
          <a:bodyPr rtlCol="0" anchor="t">
            <a:normAutofit/>
          </a:body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7" name="Date Placeholder 6"/>
          <p:cNvSpPr>
            <a:spLocks noGrp="1"/>
          </p:cNvSpPr>
          <p:nvPr>
            <p:ph type="dt" sz="half" idx="10"/>
          </p:nvPr>
        </p:nvSpPr>
        <p:spPr/>
        <p:txBody>
          <a:bodyPr rtlCol="0"/>
          <a:lstStyle/>
          <a:p>
            <a:pPr rtl="0"/>
            <a:fld id="{A9E97160-1FA1-4003-9894-A2FDBE217EB3}" type="datetime1">
              <a:rPr lang="en-GB" noProof="0" smtClean="0"/>
              <a:t>16/05/2026</a:t>
            </a:fld>
            <a:endParaRPr lang="en-GB" noProof="0"/>
          </a:p>
        </p:txBody>
      </p:sp>
      <p:sp>
        <p:nvSpPr>
          <p:cNvPr id="8" name="Footer Placeholder 7"/>
          <p:cNvSpPr>
            <a:spLocks noGrp="1"/>
          </p:cNvSpPr>
          <p:nvPr>
            <p:ph type="ftr" sz="quarter" idx="11"/>
          </p:nvPr>
        </p:nvSpPr>
        <p:spPr/>
        <p:txBody>
          <a:bodyPr rtlCol="0"/>
          <a:lstStyle/>
          <a:p>
            <a:pPr rtl="0"/>
            <a:endParaRPr lang="en-GB" noProof="0"/>
          </a:p>
        </p:txBody>
      </p:sp>
      <p:sp>
        <p:nvSpPr>
          <p:cNvPr id="9" name="Slide Number Placeholder 8"/>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rtlCol="0"/>
          <a:lstStyle/>
          <a:p>
            <a:pPr rtl="0"/>
            <a:fld id="{25F76C7B-B428-4E1D-8DC1-C83A59B39C9C}" type="datetime1">
              <a:rPr lang="en-GB" noProof="0" smtClean="0"/>
              <a:t>16/05/2026</a:t>
            </a:fld>
            <a:endParaRPr lang="en-GB" noProof="0"/>
          </a:p>
        </p:txBody>
      </p:sp>
      <p:sp>
        <p:nvSpPr>
          <p:cNvPr id="4" name="Footer Placeholder 3"/>
          <p:cNvSpPr>
            <a:spLocks noGrp="1"/>
          </p:cNvSpPr>
          <p:nvPr>
            <p:ph type="ftr" sz="quarter" idx="11"/>
          </p:nvPr>
        </p:nvSpPr>
        <p:spPr/>
        <p:txBody>
          <a:bodyPr rtlCol="0"/>
          <a:lstStyle/>
          <a:p>
            <a:pPr rtl="0"/>
            <a:endParaRPr lang="en-GB" noProof="0"/>
          </a:p>
        </p:txBody>
      </p:sp>
      <p:sp>
        <p:nvSpPr>
          <p:cNvPr id="5" name="Slide Number Placeholder 4"/>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rtlCol="0"/>
          <a:lstStyle/>
          <a:p>
            <a:pPr rtl="0"/>
            <a:r>
              <a:rPr lang="en-US" noProof="0"/>
              <a:t>Click to edit Master title style</a:t>
            </a:r>
            <a:endParaRPr lang="en-GB" noProof="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rtlCol="0"/>
          <a:lstStyle/>
          <a:p>
            <a:pPr rtl="0"/>
            <a:fld id="{89227842-69A9-4D57-8696-571A640FF47C}" type="datetime1">
              <a:rPr lang="en-GB" noProof="0" smtClean="0"/>
              <a:t>16/05/2026</a:t>
            </a:fld>
            <a:endParaRPr lang="en-GB" noProof="0"/>
          </a:p>
        </p:txBody>
      </p:sp>
      <p:sp>
        <p:nvSpPr>
          <p:cNvPr id="3" name="Footer Placeholder 2"/>
          <p:cNvSpPr>
            <a:spLocks noGrp="1"/>
          </p:cNvSpPr>
          <p:nvPr>
            <p:ph type="ftr" sz="quarter" idx="11"/>
          </p:nvPr>
        </p:nvSpPr>
        <p:spPr/>
        <p:txBody>
          <a:bodyPr rtlCol="0"/>
          <a:lstStyle/>
          <a:p>
            <a:pPr rtl="0"/>
            <a:endParaRPr lang="en-GB" noProof="0"/>
          </a:p>
        </p:txBody>
      </p:sp>
      <p:sp>
        <p:nvSpPr>
          <p:cNvPr id="4" name="Slide Number Placeholder 3"/>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en-US" noProof="0"/>
              <a:t>Click to edit Master title style</a:t>
            </a:r>
            <a:endParaRPr lang="en-GB" noProof="0"/>
          </a:p>
        </p:txBody>
      </p:sp>
      <p:sp>
        <p:nvSpPr>
          <p:cNvPr id="3" name="Content Placeholder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4" name="Text Placeholder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n-GB" noProof="0"/>
              <a:t>Edit Master text styles</a:t>
            </a:r>
          </a:p>
        </p:txBody>
      </p:sp>
      <p:sp>
        <p:nvSpPr>
          <p:cNvPr id="5" name="Date Placeholder 4"/>
          <p:cNvSpPr>
            <a:spLocks noGrp="1"/>
          </p:cNvSpPr>
          <p:nvPr>
            <p:ph type="dt" sz="half" idx="10"/>
          </p:nvPr>
        </p:nvSpPr>
        <p:spPr/>
        <p:txBody>
          <a:bodyPr rtlCol="0"/>
          <a:lstStyle>
            <a:lvl1pPr>
              <a:defRPr>
                <a:solidFill>
                  <a:schemeClr val="accent1">
                    <a:lumMod val="75000"/>
                    <a:lumOff val="25000"/>
                  </a:schemeClr>
                </a:solidFill>
              </a:defRPr>
            </a:lvl1pPr>
          </a:lstStyle>
          <a:p>
            <a:pPr rtl="0"/>
            <a:fld id="{B6D4024D-709A-489C-A1E0-404FC4EC40E9}" type="datetime1">
              <a:rPr lang="en-GB" noProof="0" smtClean="0"/>
              <a:t>16/05/2026</a:t>
            </a:fld>
            <a:endParaRPr lang="en-GB" noProof="0"/>
          </a:p>
        </p:txBody>
      </p:sp>
      <p:sp>
        <p:nvSpPr>
          <p:cNvPr id="6" name="Footer Placeholder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en-GB" noProof="0"/>
          </a:p>
        </p:txBody>
      </p:sp>
      <p:sp>
        <p:nvSpPr>
          <p:cNvPr id="7" name="Slide Number Placeholder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en-US" noProof="0"/>
              <a:t>Click to edit Master title style</a:t>
            </a:r>
            <a:endParaRPr lang="en-GB" noProof="0"/>
          </a:p>
        </p:txBody>
      </p:sp>
      <p:sp>
        <p:nvSpPr>
          <p:cNvPr id="3" name="Picture Placeholder 2"/>
          <p:cNvSpPr>
            <a:spLocks noGrp="1" noChangeAspect="1"/>
          </p:cNvSpPr>
          <p:nvPr>
            <p:ph type="pic" idx="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en-US" noProof="0"/>
              <a:t>Click icon to add picture</a:t>
            </a:r>
            <a:endParaRPr lang="en-GB" noProof="0"/>
          </a:p>
        </p:txBody>
      </p:sp>
      <p:sp>
        <p:nvSpPr>
          <p:cNvPr id="4" name="Text Placeholder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n-GB" noProof="0"/>
              <a:t>Edit Master text styles</a:t>
            </a:r>
          </a:p>
        </p:txBody>
      </p:sp>
      <p:sp>
        <p:nvSpPr>
          <p:cNvPr id="5" name="Date Placeholder 4"/>
          <p:cNvSpPr>
            <a:spLocks noGrp="1"/>
          </p:cNvSpPr>
          <p:nvPr>
            <p:ph type="dt" sz="half" idx="10"/>
          </p:nvPr>
        </p:nvSpPr>
        <p:spPr/>
        <p:txBody>
          <a:bodyPr rtlCol="0"/>
          <a:lstStyle/>
          <a:p>
            <a:pPr rtl="0"/>
            <a:fld id="{5FFEA7D9-67F6-4FDA-9663-2C4F43E353A1}" type="datetime1">
              <a:rPr lang="en-GB" noProof="0" smtClean="0"/>
              <a:t>16/05/2026</a:t>
            </a:fld>
            <a:endParaRPr lang="en-GB" noProof="0"/>
          </a:p>
        </p:txBody>
      </p:sp>
      <p:sp>
        <p:nvSpPr>
          <p:cNvPr id="6" name="Footer Placeholder 5"/>
          <p:cNvSpPr>
            <a:spLocks noGrp="1"/>
          </p:cNvSpPr>
          <p:nvPr>
            <p:ph type="ftr" sz="quarter" idx="11"/>
          </p:nvPr>
        </p:nvSpPr>
        <p:spPr/>
        <p:txBody>
          <a:bodyPr rtlCol="0"/>
          <a:lstStyle/>
          <a:p>
            <a:pPr rtl="0"/>
            <a:endParaRPr lang="en-GB" noProof="0"/>
          </a:p>
        </p:txBody>
      </p:sp>
      <p:sp>
        <p:nvSpPr>
          <p:cNvPr id="7" name="Slide Number Placeholder 6"/>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rtlCol="0"/>
          <a:lstStyle/>
          <a:p>
            <a:pPr rtl="0"/>
            <a:r>
              <a:rPr lang="en-US" noProof="0"/>
              <a:t>Click to edit Master title style</a:t>
            </a:r>
            <a:endParaRPr lang="en-GB" noProof="0"/>
          </a:p>
        </p:txBody>
      </p:sp>
      <p:sp>
        <p:nvSpPr>
          <p:cNvPr id="3" name="Vertical Text Placeholder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4" name="Date Placeholder 3"/>
          <p:cNvSpPr>
            <a:spLocks noGrp="1"/>
          </p:cNvSpPr>
          <p:nvPr>
            <p:ph type="dt" sz="half" idx="10"/>
          </p:nvPr>
        </p:nvSpPr>
        <p:spPr/>
        <p:txBody>
          <a:bodyPr rtlCol="0"/>
          <a:lstStyle/>
          <a:p>
            <a:pPr rtl="0"/>
            <a:fld id="{6EBFDA4C-4741-4614-8CF1-6BBCA681C2EE}" type="datetime1">
              <a:rPr lang="en-GB" noProof="0" smtClean="0"/>
              <a:t>16/05/2026</a:t>
            </a:fld>
            <a:endParaRPr lang="en-GB" noProof="0"/>
          </a:p>
        </p:txBody>
      </p:sp>
      <p:sp>
        <p:nvSpPr>
          <p:cNvPr id="5" name="Footer Placeholder 4"/>
          <p:cNvSpPr>
            <a:spLocks noGrp="1"/>
          </p:cNvSpPr>
          <p:nvPr>
            <p:ph type="ftr" sz="quarter" idx="11"/>
          </p:nvPr>
        </p:nvSpPr>
        <p:spPr/>
        <p:txBody>
          <a:bodyPr rtlCol="0"/>
          <a:lstStyle/>
          <a:p>
            <a:pPr rtl="0"/>
            <a:endParaRPr lang="en-GB" noProof="0"/>
          </a:p>
        </p:txBody>
      </p:sp>
      <p:sp>
        <p:nvSpPr>
          <p:cNvPr id="6" name="Slide Number Placeholder 5"/>
          <p:cNvSpPr>
            <a:spLocks noGrp="1"/>
          </p:cNvSpPr>
          <p:nvPr>
            <p:ph type="sldNum" sz="quarter" idx="12"/>
          </p:nvPr>
        </p:nvSpPr>
        <p:spPr/>
        <p:txBody>
          <a:bodyPr rtlCol="0"/>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rtlCol="0"/>
          <a:lstStyle/>
          <a:p>
            <a:pPr rtl="0"/>
            <a:r>
              <a:rPr lang="en-US" noProof="0"/>
              <a:t>Click to edit Master title style</a:t>
            </a:r>
            <a:endParaRPr lang="en-GB" noProof="0"/>
          </a:p>
        </p:txBody>
      </p:sp>
      <p:sp>
        <p:nvSpPr>
          <p:cNvPr id="3" name="Vertical Text Placeholder 2"/>
          <p:cNvSpPr>
            <a:spLocks noGrp="1"/>
          </p:cNvSpPr>
          <p:nvPr>
            <p:ph type="body" orient="vert" idx="1" hasCustomPrompt="1"/>
          </p:nvPr>
        </p:nvSpPr>
        <p:spPr>
          <a:xfrm>
            <a:off x="774923" y="675726"/>
            <a:ext cx="7896279" cy="5183073"/>
          </a:xfrm>
        </p:spPr>
        <p:txBody>
          <a:bodyPr vert="eaVert" rtlCol="0" anchor="t"/>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
        <p:nvSpPr>
          <p:cNvPr id="4" name="Date Placeholder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0663A167-FB84-446A-9868-9338781AA304}" type="datetime1">
              <a:rPr lang="en-GB" noProof="0" smtClean="0"/>
              <a:t>16/05/2026</a:t>
            </a:fld>
            <a:endParaRPr lang="en-GB" noProof="0"/>
          </a:p>
        </p:txBody>
      </p:sp>
      <p:sp>
        <p:nvSpPr>
          <p:cNvPr id="5" name="Footer Placeholder 4"/>
          <p:cNvSpPr>
            <a:spLocks noGrp="1"/>
          </p:cNvSpPr>
          <p:nvPr>
            <p:ph type="ftr" sz="quarter" idx="11"/>
          </p:nvPr>
        </p:nvSpPr>
        <p:spPr>
          <a:xfrm>
            <a:off x="774923" y="5951811"/>
            <a:ext cx="7896279" cy="365125"/>
          </a:xfrm>
        </p:spPr>
        <p:txBody>
          <a:bodyPr rtlCol="0"/>
          <a:lstStyle/>
          <a:p>
            <a:pPr rtl="0"/>
            <a:endParaRPr lang="en-GB" noProof="0"/>
          </a:p>
        </p:txBody>
      </p:sp>
      <p:sp>
        <p:nvSpPr>
          <p:cNvPr id="6" name="Slide Number Placeholder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en-GB" noProof="0" smtClean="0"/>
              <a:pPr/>
              <a:t>‹#›</a:t>
            </a:fld>
            <a:endParaRPr lang="en-GB"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en-US" noProof="0"/>
              <a:t>Click to edit Master title style</a:t>
            </a:r>
            <a:endParaRPr lang="en-GB" noProof="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en-US" noProof="0"/>
              <a:t>Click to edit Master text styles</a:t>
            </a:r>
          </a:p>
          <a:p>
            <a:pPr lvl="1" rtl="0"/>
            <a:r>
              <a:rPr lang="en-US" noProof="0"/>
              <a:t>Second level</a:t>
            </a:r>
          </a:p>
          <a:p>
            <a:pPr lvl="2" rtl="0"/>
            <a:r>
              <a:rPr lang="en-US" noProof="0"/>
              <a:t>Third level</a:t>
            </a:r>
          </a:p>
          <a:p>
            <a:pPr lvl="3" rtl="0"/>
            <a:r>
              <a:rPr lang="en-US" noProof="0"/>
              <a:t>Fourth level</a:t>
            </a:r>
          </a:p>
          <a:p>
            <a:pPr lvl="4" rtl="0"/>
            <a:r>
              <a:rPr lang="en-US" noProof="0"/>
              <a:t>Fifth level</a:t>
            </a:r>
            <a:endParaRPr lang="en-GB" noProof="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4B4B326D-8F15-4B53-B18E-44A3026066F3}" type="datetime1">
              <a:rPr lang="en-GB" noProof="0" smtClean="0"/>
              <a:t>16/05/2026</a:t>
            </a:fld>
            <a:endParaRPr lang="en-GB" noProof="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en-GB" noProof="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en-GB" noProof="0" smtClean="0"/>
              <a:pPr/>
              <a:t>‹#›</a:t>
            </a:fld>
            <a:endParaRPr lang="en-GB"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jpeg"/><Relationship Id="rId7" Type="http://schemas.openxmlformats.org/officeDocument/2006/relationships/diagramColors" Target="../diagrams/colors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18025" y="1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pPr rtl="0"/>
            <a:r>
              <a:rPr lang="en-GB" sz="6000" dirty="0">
                <a:solidFill>
                  <a:schemeClr val="bg1"/>
                </a:solidFill>
              </a:rPr>
              <a:t>Project Proposal</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pPr rtl="0"/>
            <a:r>
              <a:rPr lang="en-US" dirty="0">
                <a:solidFill>
                  <a:srgbClr val="7CEBFF"/>
                </a:solidFill>
              </a:rPr>
              <a:t>Project IDEA: ORCHESTRATING ai MODELS TO ACHIEVE A GOAL</a:t>
            </a:r>
            <a:endParaRPr lang="en-GB"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FDA9692-ECDC-4B59-86B2-8C90FDE1A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dirty="0"/>
          </a:p>
        </p:txBody>
      </p:sp>
      <p:sp>
        <p:nvSpPr>
          <p:cNvPr id="31" name="Rectangle 30">
            <a:extLst>
              <a:ext uri="{FF2B5EF4-FFF2-40B4-BE49-F238E27FC236}">
                <a16:creationId xmlns:a16="http://schemas.microsoft.com/office/drawing/2014/main" id="{12C05506-42A1-49C0-9D87-081CCD9023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5B040558-A365-4CCE-92FA-5A48CD98F9C9}"/>
              </a:ext>
            </a:extLst>
          </p:cNvPr>
          <p:cNvSpPr>
            <a:spLocks noGrp="1"/>
          </p:cNvSpPr>
          <p:nvPr>
            <p:ph type="title"/>
          </p:nvPr>
        </p:nvSpPr>
        <p:spPr>
          <a:xfrm>
            <a:off x="581192" y="5264487"/>
            <a:ext cx="11029616" cy="718870"/>
          </a:xfrm>
        </p:spPr>
        <p:txBody>
          <a:bodyPr rtlCol="0">
            <a:normAutofit/>
          </a:bodyPr>
          <a:lstStyle/>
          <a:p>
            <a:pPr rtl="0"/>
            <a:r>
              <a:rPr lang="en-GB" dirty="0" err="1">
                <a:solidFill>
                  <a:srgbClr val="FFFEFF"/>
                </a:solidFill>
              </a:rPr>
              <a:t>pROBLEM</a:t>
            </a:r>
            <a:endParaRPr lang="en-GB" dirty="0">
              <a:solidFill>
                <a:srgbClr val="FFFEFF"/>
              </a:solidFill>
            </a:endParaRPr>
          </a:p>
        </p:txBody>
      </p:sp>
      <p:graphicFrame>
        <p:nvGraphicFramePr>
          <p:cNvPr id="4" name="Content Placeholder 3" descr="icon SmartArt graphic">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839457499"/>
              </p:ext>
            </p:extLst>
          </p:nvPr>
        </p:nvGraphicFramePr>
        <p:xfrm>
          <a:off x="642938" y="858445"/>
          <a:ext cx="10906125" cy="39612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9FF269B9-E79E-91D0-EC35-0DD5C2F1E90C}"/>
              </a:ext>
            </a:extLst>
          </p:cNvPr>
          <p:cNvSpPr txBox="1"/>
          <p:nvPr/>
        </p:nvSpPr>
        <p:spPr>
          <a:xfrm>
            <a:off x="722376" y="1225296"/>
            <a:ext cx="2425664" cy="2031325"/>
          </a:xfrm>
          <a:prstGeom prst="rect">
            <a:avLst/>
          </a:prstGeom>
          <a:noFill/>
        </p:spPr>
        <p:txBody>
          <a:bodyPr wrap="none" rtlCol="0">
            <a:spAutoFit/>
          </a:bodyPr>
          <a:lstStyle/>
          <a:p>
            <a:r>
              <a:rPr lang="en-US" dirty="0"/>
              <a:t>Marking exam scripts is:</a:t>
            </a:r>
          </a:p>
          <a:p>
            <a:endParaRPr lang="en-US" dirty="0"/>
          </a:p>
          <a:p>
            <a:pPr marL="342900" indent="-342900">
              <a:buFont typeface="+mj-lt"/>
              <a:buAutoNum type="arabicPeriod"/>
            </a:pPr>
            <a:r>
              <a:rPr lang="en-US" dirty="0"/>
              <a:t>Time-consuming</a:t>
            </a:r>
          </a:p>
          <a:p>
            <a:pPr marL="342900" indent="-342900">
              <a:buFont typeface="+mj-lt"/>
              <a:buAutoNum type="arabicPeriod"/>
            </a:pPr>
            <a:r>
              <a:rPr lang="en-US" dirty="0"/>
              <a:t>Unreliable,</a:t>
            </a:r>
          </a:p>
          <a:p>
            <a:pPr marL="342900" indent="-342900">
              <a:buFont typeface="+mj-lt"/>
              <a:buAutoNum type="arabicPeriod"/>
            </a:pPr>
            <a:r>
              <a:rPr lang="en-US" dirty="0"/>
              <a:t>Subjective,</a:t>
            </a:r>
          </a:p>
          <a:p>
            <a:pPr marL="342900" indent="-342900">
              <a:buFont typeface="+mj-lt"/>
              <a:buAutoNum type="arabicPeriod"/>
            </a:pPr>
            <a:r>
              <a:rPr lang="en-US" dirty="0"/>
              <a:t>Inconsistent</a:t>
            </a:r>
          </a:p>
          <a:p>
            <a:pPr marL="342900" indent="-342900">
              <a:buFont typeface="+mj-lt"/>
              <a:buAutoNum type="arabicPeriod"/>
            </a:pPr>
            <a:r>
              <a:rPr lang="en-US" dirty="0"/>
              <a:t>Not scalable. </a:t>
            </a:r>
            <a:endParaRPr lang="en-GB" dirty="0"/>
          </a:p>
        </p:txBody>
      </p:sp>
      <p:sp>
        <p:nvSpPr>
          <p:cNvPr id="5" name="TextBox 4">
            <a:extLst>
              <a:ext uri="{FF2B5EF4-FFF2-40B4-BE49-F238E27FC236}">
                <a16:creationId xmlns:a16="http://schemas.microsoft.com/office/drawing/2014/main" id="{00910CB9-95CA-407B-2272-DAE152E3B4B4}"/>
              </a:ext>
            </a:extLst>
          </p:cNvPr>
          <p:cNvSpPr txBox="1"/>
          <p:nvPr/>
        </p:nvSpPr>
        <p:spPr>
          <a:xfrm>
            <a:off x="4887147" y="1225296"/>
            <a:ext cx="2412199" cy="1200329"/>
          </a:xfrm>
          <a:prstGeom prst="rect">
            <a:avLst/>
          </a:prstGeom>
          <a:noFill/>
        </p:spPr>
        <p:txBody>
          <a:bodyPr wrap="none" rtlCol="0">
            <a:spAutoFit/>
          </a:bodyPr>
          <a:lstStyle/>
          <a:p>
            <a:r>
              <a:rPr lang="en-US" dirty="0"/>
              <a:t>Data Collection:</a:t>
            </a:r>
          </a:p>
          <a:p>
            <a:endParaRPr lang="en-US" dirty="0"/>
          </a:p>
          <a:p>
            <a:pPr marL="342900" indent="-342900">
              <a:buFont typeface="+mj-lt"/>
              <a:buAutoNum type="arabicPeriod"/>
            </a:pPr>
            <a:r>
              <a:rPr lang="en-US" dirty="0"/>
              <a:t>Single Modality</a:t>
            </a:r>
          </a:p>
          <a:p>
            <a:pPr marL="342900" indent="-342900">
              <a:buFont typeface="+mj-lt"/>
              <a:buAutoNum type="arabicPeriod"/>
            </a:pPr>
            <a:r>
              <a:rPr lang="en-US" dirty="0"/>
              <a:t>Limited Accessibility</a:t>
            </a:r>
          </a:p>
        </p:txBody>
      </p:sp>
    </p:spTree>
    <p:extLst>
      <p:ext uri="{BB962C8B-B14F-4D97-AF65-F5344CB8AC3E}">
        <p14:creationId xmlns:p14="http://schemas.microsoft.com/office/powerpoint/2010/main" val="17033425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633EB-7DCB-4DDC-80AF-C885A3EE1245}"/>
              </a:ext>
            </a:extLst>
          </p:cNvPr>
          <p:cNvSpPr>
            <a:spLocks noGrp="1"/>
          </p:cNvSpPr>
          <p:nvPr>
            <p:ph type="title"/>
          </p:nvPr>
        </p:nvSpPr>
        <p:spPr/>
        <p:txBody>
          <a:bodyPr rtlCol="0"/>
          <a:lstStyle/>
          <a:p>
            <a:pPr rtl="0"/>
            <a:r>
              <a:rPr lang="en-GB" dirty="0"/>
              <a:t>Existing AES Research</a:t>
            </a:r>
          </a:p>
        </p:txBody>
      </p:sp>
      <p:sp>
        <p:nvSpPr>
          <p:cNvPr id="7" name="TextBox 6">
            <a:extLst>
              <a:ext uri="{FF2B5EF4-FFF2-40B4-BE49-F238E27FC236}">
                <a16:creationId xmlns:a16="http://schemas.microsoft.com/office/drawing/2014/main" id="{F14F9F8A-E2A0-34A1-A7AD-7572755FEAF7}"/>
              </a:ext>
            </a:extLst>
          </p:cNvPr>
          <p:cNvSpPr txBox="1"/>
          <p:nvPr/>
        </p:nvSpPr>
        <p:spPr>
          <a:xfrm>
            <a:off x="493776" y="2121408"/>
            <a:ext cx="3943259" cy="2031325"/>
          </a:xfrm>
          <a:prstGeom prst="rect">
            <a:avLst/>
          </a:prstGeom>
          <a:solidFill>
            <a:schemeClr val="accent1">
              <a:lumMod val="20000"/>
              <a:lumOff val="80000"/>
            </a:schemeClr>
          </a:solidFill>
        </p:spPr>
        <p:style>
          <a:lnRef idx="2">
            <a:schemeClr val="accent3"/>
          </a:lnRef>
          <a:fillRef idx="1">
            <a:schemeClr val="lt1"/>
          </a:fillRef>
          <a:effectRef idx="0">
            <a:schemeClr val="accent3"/>
          </a:effectRef>
          <a:fontRef idx="minor">
            <a:schemeClr val="dk1"/>
          </a:fontRef>
        </p:style>
        <p:txBody>
          <a:bodyPr wrap="none" rtlCol="0">
            <a:spAutoFit/>
          </a:bodyPr>
          <a:lstStyle/>
          <a:p>
            <a:r>
              <a:rPr lang="en-US" b="1" dirty="0"/>
              <a:t>Models with hand-crafted featured:</a:t>
            </a:r>
          </a:p>
          <a:p>
            <a:endParaRPr lang="en-US" dirty="0"/>
          </a:p>
          <a:p>
            <a:pPr marL="342900" indent="-342900">
              <a:buFont typeface="+mj-lt"/>
              <a:buAutoNum type="arabicPeriod"/>
            </a:pPr>
            <a:r>
              <a:rPr lang="en-GB" dirty="0"/>
              <a:t>Project Essay Grader TM (PEG) </a:t>
            </a:r>
          </a:p>
          <a:p>
            <a:pPr marL="342900" indent="-342900">
              <a:buFont typeface="+mj-lt"/>
              <a:buAutoNum type="arabicPeriod"/>
            </a:pPr>
            <a:r>
              <a:rPr lang="en-US" dirty="0"/>
              <a:t>E-RATER</a:t>
            </a:r>
          </a:p>
          <a:p>
            <a:pPr marL="342900" indent="-342900">
              <a:buFont typeface="+mj-lt"/>
              <a:buAutoNum type="arabicPeriod"/>
            </a:pPr>
            <a:r>
              <a:rPr lang="en-GB" dirty="0" err="1"/>
              <a:t>IntelliMetric</a:t>
            </a:r>
            <a:r>
              <a:rPr lang="en-GB" baseline="30000" dirty="0" err="1"/>
              <a:t>TM</a:t>
            </a:r>
            <a:endParaRPr lang="en-GB" baseline="30000" dirty="0"/>
          </a:p>
          <a:p>
            <a:pPr marL="342900" indent="-342900">
              <a:buFont typeface="+mj-lt"/>
              <a:buAutoNum type="arabicPeriod"/>
            </a:pPr>
            <a:r>
              <a:rPr lang="en-GB" dirty="0"/>
              <a:t>MY Access! </a:t>
            </a:r>
          </a:p>
          <a:p>
            <a:pPr marL="342900" indent="-342900">
              <a:buFont typeface="+mj-lt"/>
              <a:buAutoNum type="arabicPeriod"/>
            </a:pPr>
            <a:r>
              <a:rPr lang="en-GB" dirty="0" err="1"/>
              <a:t>Criterion</a:t>
            </a:r>
            <a:r>
              <a:rPr lang="en-GB" baseline="30000" dirty="0" err="1"/>
              <a:t>SM</a:t>
            </a:r>
            <a:r>
              <a:rPr lang="en-GB" dirty="0"/>
              <a:t> </a:t>
            </a:r>
          </a:p>
        </p:txBody>
      </p:sp>
      <p:sp>
        <p:nvSpPr>
          <p:cNvPr id="8" name="TextBox 7">
            <a:extLst>
              <a:ext uri="{FF2B5EF4-FFF2-40B4-BE49-F238E27FC236}">
                <a16:creationId xmlns:a16="http://schemas.microsoft.com/office/drawing/2014/main" id="{60D4B70A-1352-6932-2CF5-A728804F96C4}"/>
              </a:ext>
            </a:extLst>
          </p:cNvPr>
          <p:cNvSpPr txBox="1"/>
          <p:nvPr/>
        </p:nvSpPr>
        <p:spPr>
          <a:xfrm>
            <a:off x="4560096" y="2121408"/>
            <a:ext cx="3583018" cy="3970318"/>
          </a:xfrm>
          <a:prstGeom prst="rect">
            <a:avLst/>
          </a:prstGeom>
          <a:solidFill>
            <a:schemeClr val="accent1">
              <a:lumMod val="40000"/>
              <a:lumOff val="60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b="1" dirty="0"/>
              <a:t>Models with neural approaches:</a:t>
            </a:r>
          </a:p>
          <a:p>
            <a:endParaRPr lang="en-US" dirty="0"/>
          </a:p>
          <a:p>
            <a:r>
              <a:rPr lang="en-US" b="1" dirty="0"/>
              <a:t>Sequential and Time-Series</a:t>
            </a:r>
          </a:p>
          <a:p>
            <a:pPr marL="342900" indent="-342900">
              <a:buFont typeface="Arial" panose="020B0604020202020204" pitchFamily="34" charset="0"/>
              <a:buChar char="•"/>
            </a:pPr>
            <a:r>
              <a:rPr lang="en-US" dirty="0"/>
              <a:t>LSTM</a:t>
            </a:r>
          </a:p>
          <a:p>
            <a:pPr marL="342900" indent="-342900">
              <a:buFont typeface="Arial" panose="020B0604020202020204" pitchFamily="34" charset="0"/>
              <a:buChar char="•"/>
            </a:pPr>
            <a:r>
              <a:rPr lang="en-US" dirty="0"/>
              <a:t>BI-LSTM</a:t>
            </a:r>
          </a:p>
          <a:p>
            <a:pPr marL="342900" indent="-342900">
              <a:buFont typeface="Arial" panose="020B0604020202020204" pitchFamily="34" charset="0"/>
              <a:buChar char="•"/>
            </a:pPr>
            <a:r>
              <a:rPr lang="en-US" dirty="0"/>
              <a:t>RNN</a:t>
            </a:r>
          </a:p>
          <a:p>
            <a:pPr marL="342900" indent="-342900">
              <a:buFont typeface="Arial" panose="020B0604020202020204" pitchFamily="34" charset="0"/>
              <a:buChar char="•"/>
            </a:pPr>
            <a:endParaRPr lang="en-US" dirty="0"/>
          </a:p>
          <a:p>
            <a:r>
              <a:rPr lang="en-US" b="1" dirty="0"/>
              <a:t>Spatial and Feature Extraction</a:t>
            </a:r>
          </a:p>
          <a:p>
            <a:pPr marL="342900" indent="-342900">
              <a:buFont typeface="Arial" panose="020B0604020202020204" pitchFamily="34" charset="0"/>
              <a:buChar char="•"/>
            </a:pPr>
            <a:r>
              <a:rPr lang="en-US" dirty="0"/>
              <a:t>CNN</a:t>
            </a:r>
          </a:p>
          <a:p>
            <a:pPr marL="342900" indent="-342900">
              <a:buFont typeface="Arial" panose="020B0604020202020204" pitchFamily="34" charset="0"/>
              <a:buChar char="•"/>
            </a:pPr>
            <a:endParaRPr lang="en-US" dirty="0"/>
          </a:p>
          <a:p>
            <a:r>
              <a:rPr lang="en-US" b="1" dirty="0"/>
              <a:t>General &amp; Modern Attention</a:t>
            </a:r>
          </a:p>
          <a:p>
            <a:pPr marL="342900" indent="-342900">
              <a:buFont typeface="Arial" panose="020B0604020202020204" pitchFamily="34" charset="0"/>
              <a:buChar char="•"/>
            </a:pPr>
            <a:r>
              <a:rPr lang="en-US" dirty="0"/>
              <a:t>Transformer</a:t>
            </a:r>
          </a:p>
          <a:p>
            <a:pPr marL="342900" indent="-342900">
              <a:buFont typeface="Arial" panose="020B0604020202020204" pitchFamily="34" charset="0"/>
              <a:buChar char="•"/>
            </a:pPr>
            <a:r>
              <a:rPr lang="en-US" dirty="0"/>
              <a:t>DNN</a:t>
            </a:r>
          </a:p>
          <a:p>
            <a:endParaRPr lang="en-US" dirty="0"/>
          </a:p>
        </p:txBody>
      </p:sp>
      <p:sp>
        <p:nvSpPr>
          <p:cNvPr id="13" name="TextBox 12">
            <a:extLst>
              <a:ext uri="{FF2B5EF4-FFF2-40B4-BE49-F238E27FC236}">
                <a16:creationId xmlns:a16="http://schemas.microsoft.com/office/drawing/2014/main" id="{4579C031-2ECD-28D5-EAF3-A67D215B9605}"/>
              </a:ext>
            </a:extLst>
          </p:cNvPr>
          <p:cNvSpPr txBox="1"/>
          <p:nvPr/>
        </p:nvSpPr>
        <p:spPr>
          <a:xfrm>
            <a:off x="8266176" y="2121408"/>
            <a:ext cx="3583018" cy="2031325"/>
          </a:xfrm>
          <a:prstGeom prst="rect">
            <a:avLst/>
          </a:prstGeom>
          <a:solidFill>
            <a:schemeClr val="accent1">
              <a:lumMod val="60000"/>
              <a:lumOff val="40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endParaRPr lang="en-US" b="1" dirty="0"/>
          </a:p>
          <a:p>
            <a:r>
              <a:rPr lang="en-US" b="1" dirty="0"/>
              <a:t>Hybrid Systems</a:t>
            </a:r>
          </a:p>
          <a:p>
            <a:r>
              <a:rPr lang="en-US" dirty="0"/>
              <a:t>Semantic Similarity Scoring   + Rubric-Based Automated Scoring  + Generative Scoring</a:t>
            </a:r>
          </a:p>
          <a:p>
            <a:pPr marL="342900" indent="-34290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497607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dirty="0"/>
          </a:p>
        </p:txBody>
      </p:sp>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rtlCol="0" anchor="ctr">
            <a:normAutofit/>
          </a:bodyPr>
          <a:lstStyle/>
          <a:p>
            <a:pPr algn="ctr" rtl="0"/>
            <a:r>
              <a:rPr lang="en-GB" dirty="0"/>
              <a:t>Gaps</a:t>
            </a:r>
          </a:p>
        </p:txBody>
      </p:sp>
      <p:graphicFrame>
        <p:nvGraphicFramePr>
          <p:cNvPr id="6" name="Content Placeholder 5" descr="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3357694435"/>
              </p:ext>
            </p:extLst>
          </p:nvPr>
        </p:nvGraphicFramePr>
        <p:xfrm>
          <a:off x="719570" y="2198254"/>
          <a:ext cx="7903222"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DB7A43-FC96-D555-BB71-D3E8F190EDB8}"/>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B2AF538-108A-40C8-0CB8-0FA675BC9D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dirty="0"/>
          </a:p>
        </p:txBody>
      </p:sp>
      <p:pic>
        <p:nvPicPr>
          <p:cNvPr id="8" name="Content Placeholder 4" descr="Digital Numbers">
            <a:extLst>
              <a:ext uri="{FF2B5EF4-FFF2-40B4-BE49-F238E27FC236}">
                <a16:creationId xmlns:a16="http://schemas.microsoft.com/office/drawing/2014/main" id="{EE361207-D49A-62BD-2B1D-9B5292A36C18}"/>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 14">
            <a:extLst>
              <a:ext uri="{FF2B5EF4-FFF2-40B4-BE49-F238E27FC236}">
                <a16:creationId xmlns:a16="http://schemas.microsoft.com/office/drawing/2014/main" id="{41D21510-B582-27ED-F95E-E80360ECB5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8085B56-F5E4-36C3-7B2B-A01CE74FD34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7" name="Rectangle 16">
              <a:extLst>
                <a:ext uri="{FF2B5EF4-FFF2-40B4-BE49-F238E27FC236}">
                  <a16:creationId xmlns:a16="http://schemas.microsoft.com/office/drawing/2014/main" id="{FEF9B1F9-6C45-4C97-4D00-BEB37FC691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8" name="Rectangle 17">
              <a:extLst>
                <a:ext uri="{FF2B5EF4-FFF2-40B4-BE49-F238E27FC236}">
                  <a16:creationId xmlns:a16="http://schemas.microsoft.com/office/drawing/2014/main" id="{51D7BB01-9C3E-18C3-EEEB-2CBE732B816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1">
            <a:extLst>
              <a:ext uri="{FF2B5EF4-FFF2-40B4-BE49-F238E27FC236}">
                <a16:creationId xmlns:a16="http://schemas.microsoft.com/office/drawing/2014/main" id="{052A8AD8-39CF-FA4B-BBF4-5A41713FFF80}"/>
              </a:ext>
            </a:extLst>
          </p:cNvPr>
          <p:cNvSpPr>
            <a:spLocks noGrp="1"/>
          </p:cNvSpPr>
          <p:nvPr>
            <p:ph type="title"/>
          </p:nvPr>
        </p:nvSpPr>
        <p:spPr>
          <a:xfrm>
            <a:off x="584200" y="1006956"/>
            <a:ext cx="7213600" cy="1121871"/>
          </a:xfrm>
        </p:spPr>
        <p:txBody>
          <a:bodyPr rtlCol="0" anchor="ctr">
            <a:normAutofit/>
          </a:bodyPr>
          <a:lstStyle/>
          <a:p>
            <a:pPr algn="ctr" rtl="0"/>
            <a:r>
              <a:rPr lang="en-US" dirty="0"/>
              <a:t>P</a:t>
            </a:r>
            <a:r>
              <a:rPr lang="en-GB" dirty="0" err="1"/>
              <a:t>roposed</a:t>
            </a:r>
            <a:r>
              <a:rPr lang="en-GB" dirty="0"/>
              <a:t> Architecture</a:t>
            </a:r>
            <a:br>
              <a:rPr lang="en-GB" dirty="0"/>
            </a:br>
            <a:endParaRPr lang="en-GB" dirty="0"/>
          </a:p>
        </p:txBody>
      </p:sp>
      <p:graphicFrame>
        <p:nvGraphicFramePr>
          <p:cNvPr id="6" name="Content Placeholder 5" descr="SmartArt">
            <a:extLst>
              <a:ext uri="{FF2B5EF4-FFF2-40B4-BE49-F238E27FC236}">
                <a16:creationId xmlns:a16="http://schemas.microsoft.com/office/drawing/2014/main" id="{31CB2812-349B-20E2-202A-3443281C6570}"/>
              </a:ext>
            </a:extLst>
          </p:cNvPr>
          <p:cNvGraphicFramePr>
            <a:graphicFrameLocks noGrp="1"/>
          </p:cNvGraphicFramePr>
          <p:nvPr>
            <p:ph idx="1"/>
            <p:extLst>
              <p:ext uri="{D42A27DB-BD31-4B8C-83A1-F6EECF244321}">
                <p14:modId xmlns:p14="http://schemas.microsoft.com/office/powerpoint/2010/main" val="52152058"/>
              </p:ext>
            </p:extLst>
          </p:nvPr>
        </p:nvGraphicFramePr>
        <p:xfrm>
          <a:off x="719570" y="2198254"/>
          <a:ext cx="7903222"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A9D481E8-A158-5FE4-DD46-1D8035755CF0}"/>
              </a:ext>
            </a:extLst>
          </p:cNvPr>
          <p:cNvSpPr txBox="1"/>
          <p:nvPr/>
        </p:nvSpPr>
        <p:spPr>
          <a:xfrm>
            <a:off x="885858" y="1732586"/>
            <a:ext cx="10219529" cy="369332"/>
          </a:xfrm>
          <a:prstGeom prst="rect">
            <a:avLst/>
          </a:prstGeom>
          <a:solidFill>
            <a:schemeClr val="tx1"/>
          </a:solidFill>
        </p:spPr>
        <p:txBody>
          <a:bodyPr wrap="none" rtlCol="0">
            <a:spAutoFit/>
          </a:bodyPr>
          <a:lstStyle/>
          <a:p>
            <a:r>
              <a:rPr lang="en-GB" dirty="0">
                <a:solidFill>
                  <a:schemeClr val="bg1"/>
                </a:solidFill>
              </a:rPr>
              <a:t>3-model hybrid multi-modal system to improve the accessibility, consistency and reliability of AES systems. </a:t>
            </a:r>
          </a:p>
        </p:txBody>
      </p:sp>
    </p:spTree>
    <p:extLst>
      <p:ext uri="{BB962C8B-B14F-4D97-AF65-F5344CB8AC3E}">
        <p14:creationId xmlns:p14="http://schemas.microsoft.com/office/powerpoint/2010/main" val="27869483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24BEF-5502-F64B-19AC-185935929502}"/>
              </a:ext>
            </a:extLst>
          </p:cNvPr>
          <p:cNvSpPr>
            <a:spLocks noGrp="1"/>
          </p:cNvSpPr>
          <p:nvPr>
            <p:ph type="title"/>
          </p:nvPr>
        </p:nvSpPr>
        <p:spPr/>
        <p:txBody>
          <a:bodyPr/>
          <a:lstStyle/>
          <a:p>
            <a:r>
              <a:rPr lang="en-US" dirty="0"/>
              <a:t>Sources </a:t>
            </a:r>
            <a:endParaRPr lang="en-GB" dirty="0"/>
          </a:p>
        </p:txBody>
      </p:sp>
    </p:spTree>
    <p:extLst>
      <p:ext uri="{BB962C8B-B14F-4D97-AF65-F5344CB8AC3E}">
        <p14:creationId xmlns:p14="http://schemas.microsoft.com/office/powerpoint/2010/main" val="4643676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GB"/>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grpSp>
      <p:sp>
        <p:nvSpPr>
          <p:cNvPr id="2" name="Title 1">
            <a:extLst>
              <a:ext uri="{FF2B5EF4-FFF2-40B4-BE49-F238E27FC236}">
                <a16:creationId xmlns:a16="http://schemas.microsoft.com/office/drawing/2014/main" id="{0F87E73C-2B1A-4602-BFBE-CFE1E55D9B38}"/>
              </a:ext>
            </a:extLst>
          </p:cNvPr>
          <p:cNvSpPr>
            <a:spLocks noGrp="1" noRot="1" noMove="1" noResize="1" noEditPoints="1" noAdjustHandles="1" noChangeArrowheads="1" noChangeShapeType="1"/>
          </p:cNvSpPr>
          <p:nvPr>
            <p:ph type="ctrTitle"/>
          </p:nvPr>
        </p:nvSpPr>
        <p:spPr>
          <a:xfrm>
            <a:off x="8296275" y="1419226"/>
            <a:ext cx="3081576" cy="1746762"/>
          </a:xfrm>
        </p:spPr>
        <p:txBody>
          <a:bodyPr rtlCol="0">
            <a:normAutofit/>
          </a:bodyPr>
          <a:lstStyle/>
          <a:p>
            <a:pPr rtl="0"/>
            <a:r>
              <a:rPr lang="en-GB" dirty="0">
                <a:solidFill>
                  <a:srgbClr val="FFFFFF"/>
                </a:solidFill>
              </a:rPr>
              <a:t>Thank You</a:t>
            </a:r>
          </a:p>
        </p:txBody>
      </p:sp>
      <p:sp>
        <p:nvSpPr>
          <p:cNvPr id="3" name="Subtitle 2">
            <a:extLst>
              <a:ext uri="{FF2B5EF4-FFF2-40B4-BE49-F238E27FC236}">
                <a16:creationId xmlns:a16="http://schemas.microsoft.com/office/drawing/2014/main" id="{A9CB511D-EA45-4336-847C-1252667143B5}"/>
              </a:ext>
            </a:extLst>
          </p:cNvPr>
          <p:cNvSpPr>
            <a:spLocks noGrp="1"/>
          </p:cNvSpPr>
          <p:nvPr>
            <p:ph type="subTitle" idx="1"/>
          </p:nvPr>
        </p:nvSpPr>
        <p:spPr>
          <a:xfrm>
            <a:off x="8296275" y="3505095"/>
            <a:ext cx="3081576" cy="2629006"/>
          </a:xfrm>
        </p:spPr>
        <p:txBody>
          <a:bodyPr rtlCol="0">
            <a:normAutofit/>
          </a:bodyPr>
          <a:lstStyle/>
          <a:p>
            <a:pPr rtl="0"/>
            <a:endParaRPr lang="en-GB" dirty="0">
              <a:solidFill>
                <a:schemeClr val="bg2"/>
              </a:solidFill>
            </a:endParaRPr>
          </a:p>
          <a:p>
            <a:pPr rtl="0"/>
            <a:endParaRPr lang="en-GB" dirty="0">
              <a:solidFill>
                <a:schemeClr val="bg2"/>
              </a:solidFill>
            </a:endParaRP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9668_TF56390039_Win32" id="{9B435FBB-37EF-4CC2-A2AA-2D5176A76904}" vid="{B037E65D-0BE2-4226-856A-90D3BD06C53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Tech design</Template>
  <TotalTime>54</TotalTime>
  <Words>839</Words>
  <Application>Microsoft Office PowerPoint</Application>
  <PresentationFormat>Widescreen</PresentationFormat>
  <Paragraphs>69</Paragraphs>
  <Slides>7</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Gill Sans MT</vt:lpstr>
      <vt:lpstr>Wingdings 2</vt:lpstr>
      <vt:lpstr>Dividend</vt:lpstr>
      <vt:lpstr>Project Proposal</vt:lpstr>
      <vt:lpstr>pROBLEM</vt:lpstr>
      <vt:lpstr>Existing AES Research</vt:lpstr>
      <vt:lpstr>Gaps</vt:lpstr>
      <vt:lpstr>Proposed Architecture </vt:lpstr>
      <vt:lpstr>Sources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asa dorville</dc:creator>
  <cp:lastModifiedBy>asa dorville</cp:lastModifiedBy>
  <cp:revision>1</cp:revision>
  <dcterms:created xsi:type="dcterms:W3CDTF">2026-05-17T02:31:37Z</dcterms:created>
  <dcterms:modified xsi:type="dcterms:W3CDTF">2026-05-17T03:25:44Z</dcterms:modified>
</cp:coreProperties>
</file>