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10"/>
  </p:notesMasterIdLst>
  <p:handoutMasterIdLst>
    <p:handoutMasterId r:id="rId11"/>
  </p:handoutMasterIdLst>
  <p:sldIdLst>
    <p:sldId id="256" r:id="rId2"/>
    <p:sldId id="261" r:id="rId3"/>
    <p:sldId id="264" r:id="rId4"/>
    <p:sldId id="258" r:id="rId5"/>
    <p:sldId id="259" r:id="rId6"/>
    <p:sldId id="262" r:id="rId7"/>
    <p:sldId id="263" r:id="rId8"/>
    <p:sldId id="260" r:id="rId9"/>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1671" autoAdjust="0"/>
  </p:normalViewPr>
  <p:slideViewPr>
    <p:cSldViewPr snapToGrid="0">
      <p:cViewPr varScale="1">
        <p:scale>
          <a:sx n="79" d="100"/>
          <a:sy n="79" d="100"/>
        </p:scale>
        <p:origin x="1830" y="90"/>
      </p:cViewPr>
      <p:guideLst/>
    </p:cSldViewPr>
  </p:slideViewPr>
  <p:notesTextViewPr>
    <p:cViewPr>
      <p:scale>
        <a:sx n="3" d="2"/>
        <a:sy n="3" d="2"/>
      </p:scale>
      <p:origin x="-6" y="-18"/>
    </p:cViewPr>
  </p:notesTextViewPr>
  <p:sorterViewPr>
    <p:cViewPr>
      <p:scale>
        <a:sx n="100" d="100"/>
        <a:sy n="100" d="100"/>
      </p:scale>
      <p:origin x="0" y="0"/>
    </p:cViewPr>
  </p:sorterViewPr>
  <p:notesViewPr>
    <p:cSldViewPr snapToGrid="0">
      <p:cViewPr varScale="1">
        <p:scale>
          <a:sx n="86" d="100"/>
          <a:sy n="86" d="100"/>
        </p:scale>
        <p:origin x="311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9C16A6-8C48-4165-8DAF-8C957C12A8FA}"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t>
        <a:bodyPr/>
        <a:lstStyle/>
        <a:p>
          <a:endParaRPr lang="en-GB"/>
        </a:p>
      </dgm:t>
    </dgm:pt>
    <dgm:pt modelId="{8994D886-A75F-411A-A9D7-D31991FF12BD}" type="pres">
      <dgm:prSet presAssocID="{7D9C16A6-8C48-4165-8DAF-8C957C12A8FA}" presName="root" presStyleCnt="0">
        <dgm:presLayoutVars>
          <dgm:dir/>
          <dgm:resizeHandles val="exact"/>
        </dgm:presLayoutVars>
      </dgm:prSet>
      <dgm:spPr/>
    </dgm:pt>
  </dgm:ptLst>
  <dgm:cxnLst>
    <dgm:cxn modelId="{5574CC64-4BF2-43BE-BABC-6DF1E58A4C74}" type="presOf" srcId="{7D9C16A6-8C48-4165-8DAF-8C957C12A8FA}" destId="{8994D886-A75F-411A-A9D7-D31991FF12BD}" srcOrd="0"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dgm:spPr/>
      <dgm:t>
        <a:bodyPr rtlCol="0"/>
        <a:lstStyle/>
        <a:p>
          <a:pPr rtl="0">
            <a:lnSpc>
              <a:spcPct val="100000"/>
            </a:lnSpc>
          </a:pPr>
          <a:r>
            <a:rPr lang="en-GB" noProof="0" dirty="0"/>
            <a:t>No perfect solutions	</a:t>
          </a:r>
        </a:p>
      </dgm:t>
    </dgm:pt>
    <dgm:pt modelId="{720680DC-AAA4-4434-A582-60EBCC5BA355}" type="parTrans" cxnId="{0B5DAE5F-BCDC-4BF7-A6E7-CF856886A64D}">
      <dgm:prSet/>
      <dgm:spPr/>
      <dgm:t>
        <a:bodyPr rtlCol="0"/>
        <a:lstStyle/>
        <a:p>
          <a:pPr rtl="0"/>
          <a:endParaRPr lang="en-GB" noProof="0" dirty="0"/>
        </a:p>
      </dgm:t>
    </dgm:pt>
    <dgm:pt modelId="{CA077D98-8478-47EA-B6A9-99ACE60C64D4}" type="sibTrans" cxnId="{0B5DAE5F-BCDC-4BF7-A6E7-CF856886A64D}">
      <dgm:prSet/>
      <dgm:spPr/>
      <dgm:t>
        <a:bodyPr rtlCol="0"/>
        <a:lstStyle/>
        <a:p>
          <a:pPr rtl="0"/>
          <a:endParaRPr lang="en-GB" noProof="0" dirty="0"/>
        </a:p>
      </dgm:t>
    </dgm:pt>
    <dgm:pt modelId="{0BEF68B8-1228-47BB-83B5-7B9CD1E3F84E}">
      <dgm:prSet phldrT="[Text]"/>
      <dgm:spPr/>
      <dgm:t>
        <a:bodyPr rtlCol="0"/>
        <a:lstStyle/>
        <a:p>
          <a:pPr rtl="0">
            <a:lnSpc>
              <a:spcPct val="100000"/>
            </a:lnSpc>
          </a:pPr>
          <a:r>
            <a:rPr lang="en-US" noProof="0" dirty="0"/>
            <a:t>Little to no consideration for accessibility</a:t>
          </a:r>
          <a:endParaRPr lang="en-GB" noProof="0" dirty="0"/>
        </a:p>
      </dgm:t>
    </dgm:pt>
    <dgm:pt modelId="{ED3A4BC2-B75A-4952-A38B-A42B5995DF05}" type="parTrans" cxnId="{EDEF4F82-1237-4639-A0F7-385C1897CE66}">
      <dgm:prSet/>
      <dgm:spPr/>
      <dgm:t>
        <a:bodyPr rtlCol="0"/>
        <a:lstStyle/>
        <a:p>
          <a:pPr rtl="0"/>
          <a:endParaRPr lang="en-GB" noProof="0" dirty="0"/>
        </a:p>
      </dgm:t>
    </dgm:pt>
    <dgm:pt modelId="{FD949706-EDCC-4ADC-8EDF-8EDA49C92325}" type="sibTrans" cxnId="{EDEF4F82-1237-4639-A0F7-385C1897CE66}">
      <dgm:prSet/>
      <dgm:spPr/>
      <dgm:t>
        <a:bodyPr rtlCol="0"/>
        <a:lstStyle/>
        <a:p>
          <a:pPr rtl="0"/>
          <a:endParaRPr lang="en-GB" noProof="0" dirty="0"/>
        </a:p>
      </dgm:t>
    </dgm:pt>
    <dgm:pt modelId="{5605D28D-2CE6-4513-8566-952984E21E14}">
      <dgm:prSet phldrT="[Text]"/>
      <dgm:spPr/>
      <dgm:t>
        <a:bodyPr rtlCol="0"/>
        <a:lstStyle/>
        <a:p>
          <a:pPr rtl="0">
            <a:lnSpc>
              <a:spcPct val="100000"/>
            </a:lnSpc>
          </a:pPr>
          <a:r>
            <a:rPr lang="en-GB" noProof="0" dirty="0"/>
            <a:t>Need for multi-modal orchestration</a:t>
          </a:r>
        </a:p>
      </dgm:t>
    </dgm:pt>
    <dgm:pt modelId="{EB15AB98-362B-4E70-A3DA-995FC3E8BA79}" type="parTrans" cxnId="{FAF3F884-F0CF-440F-8CB1-B7648AB1B138}">
      <dgm:prSet/>
      <dgm:spPr/>
      <dgm:t>
        <a:bodyPr rtlCol="0"/>
        <a:lstStyle/>
        <a:p>
          <a:pPr rtl="0"/>
          <a:endParaRPr lang="en-GB" noProof="0" dirty="0"/>
        </a:p>
      </dgm:t>
    </dgm:pt>
    <dgm:pt modelId="{823D1971-2C4D-4EC5-A874-2F463DE37109}" type="sibTrans" cxnId="{FAF3F884-F0CF-440F-8CB1-B7648AB1B138}">
      <dgm:prSet/>
      <dgm:spPr/>
      <dgm:t>
        <a:bodyPr rtlCol="0"/>
        <a:lstStyle/>
        <a:p>
          <a:pPr rtl="0"/>
          <a:endParaRPr lang="en-GB" noProof="0" dirty="0"/>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3"/>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3"/>
      <dgm:spPr/>
    </dgm:pt>
    <dgm:pt modelId="{429CABD1-4116-474B-81BF-735E2CA9DD00}" type="pres">
      <dgm:prSet presAssocID="{7E5AA53B-3EEE-4DE4-BB81-9044890C2946}" presName="dstNode" presStyleLbl="node1" presStyleIdx="0" presStyleCnt="3"/>
      <dgm:spPr/>
    </dgm:pt>
    <dgm:pt modelId="{58319267-C71E-43C9-94E1-827D0616C7A7}" type="pres">
      <dgm:prSet presAssocID="{6750AC01-D39D-4F3A-9DC8-2A211EE986A2}" presName="text_1" presStyleLbl="node1" presStyleIdx="0" presStyleCnt="3">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3"/>
      <dgm:spPr/>
    </dgm:pt>
    <dgm:pt modelId="{95DE6538-27BD-44AF-A1A8-CA8F6B10FDD2}" type="pres">
      <dgm:prSet presAssocID="{0BEF68B8-1228-47BB-83B5-7B9CD1E3F84E}" presName="text_2" presStyleLbl="node1" presStyleIdx="1" presStyleCnt="3" custLinFactNeighborX="-604">
        <dgm:presLayoutVars>
          <dgm:bulletEnabled val="1"/>
        </dgm:presLayoutVars>
      </dgm:prSet>
      <dgm:spPr/>
    </dgm:pt>
    <dgm:pt modelId="{312BDEE8-85BD-4F02-B35B-2CC8E701C98B}" type="pres">
      <dgm:prSet presAssocID="{0BEF68B8-1228-47BB-83B5-7B9CD1E3F84E}" presName="accent_2" presStyleCnt="0"/>
      <dgm:spPr/>
    </dgm:pt>
    <dgm:pt modelId="{3F8116AC-FAC3-4E95-9865-93CCFEB191B9}" type="pres">
      <dgm:prSet presAssocID="{0BEF68B8-1228-47BB-83B5-7B9CD1E3F84E}" presName="accentRepeatNode" presStyleLbl="solidFgAcc1" presStyleIdx="1" presStyleCnt="3"/>
      <dgm:spPr/>
    </dgm:pt>
    <dgm:pt modelId="{E131CE4A-9776-44F4-BC03-867682E21374}" type="pres">
      <dgm:prSet presAssocID="{5605D28D-2CE6-4513-8566-952984E21E14}" presName="text_3" presStyleLbl="node1" presStyleIdx="2" presStyleCnt="3" custLinFactNeighborX="124" custLinFactNeighborY="-5131">
        <dgm:presLayoutVars>
          <dgm:bulletEnabled val="1"/>
        </dgm:presLayoutVars>
      </dgm:prSet>
      <dgm:spPr/>
    </dgm:pt>
    <dgm:pt modelId="{AC9A216A-8375-48F9-A4E6-8E0B64C0209B}" type="pres">
      <dgm:prSet presAssocID="{5605D28D-2CE6-4513-8566-952984E21E14}" presName="accent_3" presStyleCnt="0"/>
      <dgm:spPr/>
    </dgm:pt>
    <dgm:pt modelId="{A965097E-32F1-4AB8-8C4E-2814A7596B2F}" type="pres">
      <dgm:prSet presAssocID="{5605D28D-2CE6-4513-8566-952984E21E14}" presName="accentRepeatNode" presStyleLbl="solidFgAcc1" presStyleIdx="2" presStyleCnt="3"/>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7084AA77-BACB-46CB-AE4A-77B62D3ED1AF}" type="presOf" srcId="{5605D28D-2CE6-4513-8566-952984E21E14}" destId="{E131CE4A-9776-44F4-BC03-867682E21374}" srcOrd="0" destOrd="0" presId="urn:microsoft.com/office/officeart/2008/layout/VerticalCurvedList"/>
    <dgm:cxn modelId="{EDEF4F82-1237-4639-A0F7-385C1897CE66}" srcId="{7E5AA53B-3EEE-4DE4-BB81-9044890C2946}" destId="{0BEF68B8-1228-47BB-83B5-7B9CD1E3F84E}" srcOrd="1" destOrd="0" parTransId="{ED3A4BC2-B75A-4952-A38B-A42B5995DF05}" sibTransId="{FD949706-EDCC-4ADC-8EDF-8EDA49C92325}"/>
    <dgm:cxn modelId="{FAF3F884-F0CF-440F-8CB1-B7648AB1B138}" srcId="{7E5AA53B-3EEE-4DE4-BB81-9044890C2946}" destId="{5605D28D-2CE6-4513-8566-952984E21E14}" srcOrd="2" destOrd="0" parTransId="{EB15AB98-362B-4E70-A3DA-995FC3E8BA79}" sibTransId="{823D1971-2C4D-4EC5-A874-2F463DE37109}"/>
    <dgm:cxn modelId="{4F65CC8F-B5A8-40BE-A32B-05862B543D6A}" type="presOf" srcId="{7E5AA53B-3EEE-4DE4-BB81-9044890C2946}" destId="{57806726-6E60-4ACC-9C1C-7DF9CC365A10}" srcOrd="0" destOrd="0" presId="urn:microsoft.com/office/officeart/2008/layout/VerticalCurvedList"/>
    <dgm:cxn modelId="{4A378892-5CCC-4F0D-8A38-4BEAECF30F24}" type="presOf" srcId="{0BEF68B8-1228-47BB-83B5-7B9CD1E3F84E}" destId="{95DE6538-27BD-44AF-A1A8-CA8F6B10FDD2}"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602753E6-8A03-492B-861A-6B9532B5AA28}" type="presParOf" srcId="{90561C55-3C6E-4D53-85E1-2C50BCDDA392}" destId="{95DE6538-27BD-44AF-A1A8-CA8F6B10FDD2}" srcOrd="3" destOrd="0" presId="urn:microsoft.com/office/officeart/2008/layout/VerticalCurvedList"/>
    <dgm:cxn modelId="{AEC540A3-E86A-4075-8BE4-263F4AFF4EA1}" type="presParOf" srcId="{90561C55-3C6E-4D53-85E1-2C50BCDDA392}" destId="{312BDEE8-85BD-4F02-B35B-2CC8E701C98B}" srcOrd="4" destOrd="0" presId="urn:microsoft.com/office/officeart/2008/layout/VerticalCurvedList"/>
    <dgm:cxn modelId="{CD5D1014-B7CB-4B47-9A02-5FBF90928A73}" type="presParOf" srcId="{312BDEE8-85BD-4F02-B35B-2CC8E701C98B}" destId="{3F8116AC-FAC3-4E95-9865-93CCFEB191B9}" srcOrd="0" destOrd="0" presId="urn:microsoft.com/office/officeart/2008/layout/VerticalCurvedList"/>
    <dgm:cxn modelId="{987EB7C0-CA3E-4874-85E0-01E9060A2D35}" type="presParOf" srcId="{90561C55-3C6E-4D53-85E1-2C50BCDDA392}" destId="{E131CE4A-9776-44F4-BC03-867682E21374}" srcOrd="5" destOrd="0" presId="urn:microsoft.com/office/officeart/2008/layout/VerticalCurvedList"/>
    <dgm:cxn modelId="{91E55363-8DCA-455E-A203-06A9410994CB}" type="presParOf" srcId="{90561C55-3C6E-4D53-85E1-2C50BCDDA392}" destId="{AC9A216A-8375-48F9-A4E6-8E0B64C0209B}" srcOrd="6" destOrd="0" presId="urn:microsoft.com/office/officeart/2008/layout/VerticalCurvedList"/>
    <dgm:cxn modelId="{D866D586-1293-4049-B6E3-B467C1D5ED64}" type="presParOf" srcId="{AC9A216A-8375-48F9-A4E6-8E0B64C0209B}" destId="{A965097E-32F1-4AB8-8C4E-2814A7596B2F}"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dgm:spPr/>
      <dgm:t>
        <a:bodyPr rtlCol="0"/>
        <a:lstStyle/>
        <a:p>
          <a:pPr rtl="0">
            <a:lnSpc>
              <a:spcPct val="100000"/>
            </a:lnSpc>
          </a:pPr>
          <a:r>
            <a:rPr lang="en-GB" noProof="0" dirty="0"/>
            <a:t>Audio (speech-to-text)	</a:t>
          </a:r>
        </a:p>
      </dgm:t>
    </dgm:pt>
    <dgm:pt modelId="{720680DC-AAA4-4434-A582-60EBCC5BA355}" type="parTrans" cxnId="{0B5DAE5F-BCDC-4BF7-A6E7-CF856886A64D}">
      <dgm:prSet/>
      <dgm:spPr/>
      <dgm:t>
        <a:bodyPr rtlCol="0"/>
        <a:lstStyle/>
        <a:p>
          <a:pPr rtl="0"/>
          <a:endParaRPr lang="en-GB" noProof="0" dirty="0"/>
        </a:p>
      </dgm:t>
    </dgm:pt>
    <dgm:pt modelId="{CA077D98-8478-47EA-B6A9-99ACE60C64D4}" type="sibTrans" cxnId="{0B5DAE5F-BCDC-4BF7-A6E7-CF856886A64D}">
      <dgm:prSet/>
      <dgm:spPr/>
      <dgm:t>
        <a:bodyPr rtlCol="0"/>
        <a:lstStyle/>
        <a:p>
          <a:pPr rtl="0"/>
          <a:endParaRPr lang="en-GB" noProof="0" dirty="0"/>
        </a:p>
      </dgm:t>
    </dgm:pt>
    <dgm:pt modelId="{0BEF68B8-1228-47BB-83B5-7B9CD1E3F84E}">
      <dgm:prSet phldrT="[Text]"/>
      <dgm:spPr/>
      <dgm:t>
        <a:bodyPr rtlCol="0"/>
        <a:lstStyle/>
        <a:p>
          <a:pPr rtl="0">
            <a:lnSpc>
              <a:spcPct val="100000"/>
            </a:lnSpc>
          </a:pPr>
          <a:r>
            <a:rPr lang="en-US" noProof="0" dirty="0"/>
            <a:t>Image (OCR)</a:t>
          </a:r>
          <a:endParaRPr lang="en-GB" noProof="0" dirty="0"/>
        </a:p>
      </dgm:t>
    </dgm:pt>
    <dgm:pt modelId="{ED3A4BC2-B75A-4952-A38B-A42B5995DF05}" type="parTrans" cxnId="{EDEF4F82-1237-4639-A0F7-385C1897CE66}">
      <dgm:prSet/>
      <dgm:spPr/>
      <dgm:t>
        <a:bodyPr rtlCol="0"/>
        <a:lstStyle/>
        <a:p>
          <a:pPr rtl="0"/>
          <a:endParaRPr lang="en-GB" noProof="0" dirty="0"/>
        </a:p>
      </dgm:t>
    </dgm:pt>
    <dgm:pt modelId="{FD949706-EDCC-4ADC-8EDF-8EDA49C92325}" type="sibTrans" cxnId="{EDEF4F82-1237-4639-A0F7-385C1897CE66}">
      <dgm:prSet/>
      <dgm:spPr/>
      <dgm:t>
        <a:bodyPr rtlCol="0"/>
        <a:lstStyle/>
        <a:p>
          <a:pPr rtl="0"/>
          <a:endParaRPr lang="en-GB" noProof="0" dirty="0"/>
        </a:p>
      </dgm:t>
    </dgm:pt>
    <dgm:pt modelId="{5605D28D-2CE6-4513-8566-952984E21E14}">
      <dgm:prSet phldrT="[Text]"/>
      <dgm:spPr/>
      <dgm:t>
        <a:bodyPr rtlCol="0"/>
        <a:lstStyle/>
        <a:p>
          <a:pPr rtl="0">
            <a:lnSpc>
              <a:spcPct val="100000"/>
            </a:lnSpc>
          </a:pPr>
          <a:r>
            <a:rPr lang="en-GB" noProof="0" dirty="0"/>
            <a:t>Text evaluation (Transformer AES)</a:t>
          </a:r>
        </a:p>
      </dgm:t>
    </dgm:pt>
    <dgm:pt modelId="{EB15AB98-362B-4E70-A3DA-995FC3E8BA79}" type="parTrans" cxnId="{FAF3F884-F0CF-440F-8CB1-B7648AB1B138}">
      <dgm:prSet/>
      <dgm:spPr/>
      <dgm:t>
        <a:bodyPr rtlCol="0"/>
        <a:lstStyle/>
        <a:p>
          <a:pPr rtl="0"/>
          <a:endParaRPr lang="en-GB" noProof="0" dirty="0"/>
        </a:p>
      </dgm:t>
    </dgm:pt>
    <dgm:pt modelId="{823D1971-2C4D-4EC5-A874-2F463DE37109}" type="sibTrans" cxnId="{FAF3F884-F0CF-440F-8CB1-B7648AB1B138}">
      <dgm:prSet/>
      <dgm:spPr/>
      <dgm:t>
        <a:bodyPr rtlCol="0"/>
        <a:lstStyle/>
        <a:p>
          <a:pPr rtl="0"/>
          <a:endParaRPr lang="en-GB" noProof="0" dirty="0"/>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3"/>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3"/>
      <dgm:spPr/>
    </dgm:pt>
    <dgm:pt modelId="{429CABD1-4116-474B-81BF-735E2CA9DD00}" type="pres">
      <dgm:prSet presAssocID="{7E5AA53B-3EEE-4DE4-BB81-9044890C2946}" presName="dstNode" presStyleLbl="node1" presStyleIdx="0" presStyleCnt="3"/>
      <dgm:spPr/>
    </dgm:pt>
    <dgm:pt modelId="{58319267-C71E-43C9-94E1-827D0616C7A7}" type="pres">
      <dgm:prSet presAssocID="{6750AC01-D39D-4F3A-9DC8-2A211EE986A2}" presName="text_1" presStyleLbl="node1" presStyleIdx="0" presStyleCnt="3">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3"/>
      <dgm:spPr/>
    </dgm:pt>
    <dgm:pt modelId="{7BA070DD-68D1-4E02-B691-BD65A07FF71D}" type="pres">
      <dgm:prSet presAssocID="{0BEF68B8-1228-47BB-83B5-7B9CD1E3F84E}" presName="text_2" presStyleLbl="node1" presStyleIdx="1" presStyleCnt="3">
        <dgm:presLayoutVars>
          <dgm:bulletEnabled val="1"/>
        </dgm:presLayoutVars>
      </dgm:prSet>
      <dgm:spPr/>
    </dgm:pt>
    <dgm:pt modelId="{9C1706DC-40E4-4DA2-8CF8-34B09656E136}" type="pres">
      <dgm:prSet presAssocID="{0BEF68B8-1228-47BB-83B5-7B9CD1E3F84E}" presName="accent_2" presStyleCnt="0"/>
      <dgm:spPr/>
    </dgm:pt>
    <dgm:pt modelId="{3F8116AC-FAC3-4E95-9865-93CCFEB191B9}" type="pres">
      <dgm:prSet presAssocID="{0BEF68B8-1228-47BB-83B5-7B9CD1E3F84E}" presName="accentRepeatNode" presStyleLbl="solidFgAcc1" presStyleIdx="1" presStyleCnt="3"/>
      <dgm:spPr/>
    </dgm:pt>
    <dgm:pt modelId="{047D7F30-4C2B-4905-9E8C-4B53F300116F}" type="pres">
      <dgm:prSet presAssocID="{5605D28D-2CE6-4513-8566-952984E21E14}" presName="text_3" presStyleLbl="node1" presStyleIdx="2" presStyleCnt="3">
        <dgm:presLayoutVars>
          <dgm:bulletEnabled val="1"/>
        </dgm:presLayoutVars>
      </dgm:prSet>
      <dgm:spPr/>
    </dgm:pt>
    <dgm:pt modelId="{5B1D9BD9-6E81-404A-8AAC-B50DE04E2CFF}" type="pres">
      <dgm:prSet presAssocID="{5605D28D-2CE6-4513-8566-952984E21E14}" presName="accent_3" presStyleCnt="0"/>
      <dgm:spPr/>
    </dgm:pt>
    <dgm:pt modelId="{A965097E-32F1-4AB8-8C4E-2814A7596B2F}" type="pres">
      <dgm:prSet presAssocID="{5605D28D-2CE6-4513-8566-952984E21E14}" presName="accentRepeatNode" presStyleLbl="solidFgAcc1" presStyleIdx="2" presStyleCnt="3"/>
      <dgm:spPr/>
    </dgm:pt>
  </dgm:ptLst>
  <dgm:cxnLst>
    <dgm:cxn modelId="{A11E3B12-1828-45A7-86C3-BB85832DF84D}" type="presOf" srcId="{CA077D98-8478-47EA-B6A9-99ACE60C64D4}" destId="{D79B43FC-100B-4A0D-A4D5-0D2D04B99064}" srcOrd="0" destOrd="0" presId="urn:microsoft.com/office/officeart/2008/layout/VerticalCurvedList"/>
    <dgm:cxn modelId="{3D199325-7C25-4245-A84C-C1A91C435F75}" type="presOf" srcId="{0BEF68B8-1228-47BB-83B5-7B9CD1E3F84E}" destId="{7BA070DD-68D1-4E02-B691-BD65A07FF71D}"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EDEF4F82-1237-4639-A0F7-385C1897CE66}" srcId="{7E5AA53B-3EEE-4DE4-BB81-9044890C2946}" destId="{0BEF68B8-1228-47BB-83B5-7B9CD1E3F84E}" srcOrd="1" destOrd="0" parTransId="{ED3A4BC2-B75A-4952-A38B-A42B5995DF05}" sibTransId="{FD949706-EDCC-4ADC-8EDF-8EDA49C92325}"/>
    <dgm:cxn modelId="{FAF3F884-F0CF-440F-8CB1-B7648AB1B138}" srcId="{7E5AA53B-3EEE-4DE4-BB81-9044890C2946}" destId="{5605D28D-2CE6-4513-8566-952984E21E14}" srcOrd="2" destOrd="0" parTransId="{EB15AB98-362B-4E70-A3DA-995FC3E8BA79}" sibTransId="{823D1971-2C4D-4EC5-A874-2F463DE37109}"/>
    <dgm:cxn modelId="{4F65CC8F-B5A8-40BE-A32B-05862B543D6A}" type="presOf" srcId="{7E5AA53B-3EEE-4DE4-BB81-9044890C2946}" destId="{57806726-6E60-4ACC-9C1C-7DF9CC365A10}" srcOrd="0" destOrd="0" presId="urn:microsoft.com/office/officeart/2008/layout/VerticalCurvedList"/>
    <dgm:cxn modelId="{20BACAEC-FFD4-4FBC-B39E-77DFE407D9B2}" type="presOf" srcId="{5605D28D-2CE6-4513-8566-952984E21E14}" destId="{047D7F30-4C2B-4905-9E8C-4B53F300116F}"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C1FEDB35-CFA4-417F-ABD0-0066919EDD8A}" type="presParOf" srcId="{90561C55-3C6E-4D53-85E1-2C50BCDDA392}" destId="{7BA070DD-68D1-4E02-B691-BD65A07FF71D}" srcOrd="3" destOrd="0" presId="urn:microsoft.com/office/officeart/2008/layout/VerticalCurvedList"/>
    <dgm:cxn modelId="{68F923B5-0FD7-412B-9C64-BAE7994FCCCD}" type="presParOf" srcId="{90561C55-3C6E-4D53-85E1-2C50BCDDA392}" destId="{9C1706DC-40E4-4DA2-8CF8-34B09656E136}" srcOrd="4" destOrd="0" presId="urn:microsoft.com/office/officeart/2008/layout/VerticalCurvedList"/>
    <dgm:cxn modelId="{E06F7C78-BB04-4971-8C25-E8A1C85E0525}" type="presParOf" srcId="{9C1706DC-40E4-4DA2-8CF8-34B09656E136}" destId="{3F8116AC-FAC3-4E95-9865-93CCFEB191B9}" srcOrd="0" destOrd="0" presId="urn:microsoft.com/office/officeart/2008/layout/VerticalCurvedList"/>
    <dgm:cxn modelId="{0F5DCDBF-1241-4BE9-A72D-13ABDEFC8447}" type="presParOf" srcId="{90561C55-3C6E-4D53-85E1-2C50BCDDA392}" destId="{047D7F30-4C2B-4905-9E8C-4B53F300116F}" srcOrd="5" destOrd="0" presId="urn:microsoft.com/office/officeart/2008/layout/VerticalCurvedList"/>
    <dgm:cxn modelId="{52728DB4-A555-4451-AF54-E9C93EB16C7A}" type="presParOf" srcId="{90561C55-3C6E-4D53-85E1-2C50BCDDA392}" destId="{5B1D9BD9-6E81-404A-8AAC-B50DE04E2CFF}" srcOrd="6" destOrd="0" presId="urn:microsoft.com/office/officeart/2008/layout/VerticalCurvedList"/>
    <dgm:cxn modelId="{1FE31373-77CE-4594-8E7C-F48B137891A5}" type="presParOf" srcId="{5B1D9BD9-6E81-404A-8AAC-B50DE04E2CFF}" destId="{A965097E-32F1-4AB8-8C4E-2814A7596B2F}"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496568" y="356393"/>
          <a:ext cx="7359365"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76200" rIns="76200" bIns="76200" numCol="1" spcCol="1270" rtlCol="0" anchor="ctr" anchorCtr="0">
          <a:noAutofit/>
        </a:bodyPr>
        <a:lstStyle/>
        <a:p>
          <a:pPr marL="0" lvl="0" indent="0" algn="l" defTabSz="1333500" rtl="0">
            <a:lnSpc>
              <a:spcPct val="100000"/>
            </a:lnSpc>
            <a:spcBef>
              <a:spcPct val="0"/>
            </a:spcBef>
            <a:spcAft>
              <a:spcPct val="35000"/>
            </a:spcAft>
            <a:buNone/>
          </a:pPr>
          <a:r>
            <a:rPr lang="en-GB" sz="3000" kern="1200" noProof="0" dirty="0"/>
            <a:t>No perfect solutions	</a:t>
          </a:r>
        </a:p>
      </dsp:txBody>
      <dsp:txXfrm>
        <a:off x="496568" y="356393"/>
        <a:ext cx="7359365" cy="712787"/>
      </dsp:txXfrm>
    </dsp:sp>
    <dsp:sp modelId="{07CB3071-D555-47DA-A36A-69EB91531FD8}">
      <dsp:nvSpPr>
        <dsp:cNvPr id="0" name=""/>
        <dsp:cNvSpPr/>
      </dsp:nvSpPr>
      <dsp:spPr>
        <a:xfrm>
          <a:off x="51076" y="267295"/>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5DE6538-27BD-44AF-A1A8-CA8F6B10FDD2}">
      <dsp:nvSpPr>
        <dsp:cNvPr id="0" name=""/>
        <dsp:cNvSpPr/>
      </dsp:nvSpPr>
      <dsp:spPr>
        <a:xfrm>
          <a:off x="712780" y="1425575"/>
          <a:ext cx="7100266"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76200" rIns="76200" bIns="76200" numCol="1" spcCol="1270" rtlCol="0" anchor="ctr" anchorCtr="0">
          <a:noAutofit/>
        </a:bodyPr>
        <a:lstStyle/>
        <a:p>
          <a:pPr marL="0" lvl="0" indent="0" algn="l" defTabSz="1333500" rtl="0">
            <a:lnSpc>
              <a:spcPct val="100000"/>
            </a:lnSpc>
            <a:spcBef>
              <a:spcPct val="0"/>
            </a:spcBef>
            <a:spcAft>
              <a:spcPct val="35000"/>
            </a:spcAft>
            <a:buNone/>
          </a:pPr>
          <a:r>
            <a:rPr lang="en-US" sz="3000" kern="1200" noProof="0" dirty="0"/>
            <a:t>Little to no consideration for accessibility</a:t>
          </a:r>
          <a:endParaRPr lang="en-GB" sz="3000" kern="1200" noProof="0" dirty="0"/>
        </a:p>
      </dsp:txBody>
      <dsp:txXfrm>
        <a:off x="712780" y="1425575"/>
        <a:ext cx="7100266" cy="712787"/>
      </dsp:txXfrm>
    </dsp:sp>
    <dsp:sp modelId="{3F8116AC-FAC3-4E95-9865-93CCFEB191B9}">
      <dsp:nvSpPr>
        <dsp:cNvPr id="0" name=""/>
        <dsp:cNvSpPr/>
      </dsp:nvSpPr>
      <dsp:spPr>
        <a:xfrm>
          <a:off x="310174" y="1336476"/>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131CE4A-9776-44F4-BC03-867682E21374}">
      <dsp:nvSpPr>
        <dsp:cNvPr id="0" name=""/>
        <dsp:cNvSpPr/>
      </dsp:nvSpPr>
      <dsp:spPr>
        <a:xfrm>
          <a:off x="505693" y="2458183"/>
          <a:ext cx="7359365"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76200" rIns="76200" bIns="76200" numCol="1" spcCol="1270" rtlCol="0" anchor="ctr" anchorCtr="0">
          <a:noAutofit/>
        </a:bodyPr>
        <a:lstStyle/>
        <a:p>
          <a:pPr marL="0" lvl="0" indent="0" algn="l" defTabSz="1333500" rtl="0">
            <a:lnSpc>
              <a:spcPct val="100000"/>
            </a:lnSpc>
            <a:spcBef>
              <a:spcPct val="0"/>
            </a:spcBef>
            <a:spcAft>
              <a:spcPct val="35000"/>
            </a:spcAft>
            <a:buNone/>
          </a:pPr>
          <a:r>
            <a:rPr lang="en-GB" sz="3000" kern="1200" noProof="0" dirty="0"/>
            <a:t>Need for multi-modal orchestration</a:t>
          </a:r>
        </a:p>
      </dsp:txBody>
      <dsp:txXfrm>
        <a:off x="505693" y="2458183"/>
        <a:ext cx="7359365" cy="712787"/>
      </dsp:txXfrm>
    </dsp:sp>
    <dsp:sp modelId="{A965097E-32F1-4AB8-8C4E-2814A7596B2F}">
      <dsp:nvSpPr>
        <dsp:cNvPr id="0" name=""/>
        <dsp:cNvSpPr/>
      </dsp:nvSpPr>
      <dsp:spPr>
        <a:xfrm>
          <a:off x="51076" y="2405658"/>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496568" y="356393"/>
          <a:ext cx="7359365"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8900" rIns="88900" bIns="88900" numCol="1" spcCol="1270" rtlCol="0" anchor="ctr" anchorCtr="0">
          <a:noAutofit/>
        </a:bodyPr>
        <a:lstStyle/>
        <a:p>
          <a:pPr marL="0" lvl="0" indent="0" algn="l" defTabSz="1555750" rtl="0">
            <a:lnSpc>
              <a:spcPct val="100000"/>
            </a:lnSpc>
            <a:spcBef>
              <a:spcPct val="0"/>
            </a:spcBef>
            <a:spcAft>
              <a:spcPct val="35000"/>
            </a:spcAft>
            <a:buNone/>
          </a:pPr>
          <a:r>
            <a:rPr lang="en-GB" sz="3500" kern="1200" noProof="0" dirty="0"/>
            <a:t>Audio (speech-to-text)	</a:t>
          </a:r>
        </a:p>
      </dsp:txBody>
      <dsp:txXfrm>
        <a:off x="496568" y="356393"/>
        <a:ext cx="7359365" cy="712787"/>
      </dsp:txXfrm>
    </dsp:sp>
    <dsp:sp modelId="{07CB3071-D555-47DA-A36A-69EB91531FD8}">
      <dsp:nvSpPr>
        <dsp:cNvPr id="0" name=""/>
        <dsp:cNvSpPr/>
      </dsp:nvSpPr>
      <dsp:spPr>
        <a:xfrm>
          <a:off x="51076" y="267295"/>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BA070DD-68D1-4E02-B691-BD65A07FF71D}">
      <dsp:nvSpPr>
        <dsp:cNvPr id="0" name=""/>
        <dsp:cNvSpPr/>
      </dsp:nvSpPr>
      <dsp:spPr>
        <a:xfrm>
          <a:off x="755666" y="1425575"/>
          <a:ext cx="7100266"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8900" rIns="88900" bIns="88900" numCol="1" spcCol="1270" rtlCol="0" anchor="ctr" anchorCtr="0">
          <a:noAutofit/>
        </a:bodyPr>
        <a:lstStyle/>
        <a:p>
          <a:pPr marL="0" lvl="0" indent="0" algn="l" defTabSz="1555750" rtl="0">
            <a:lnSpc>
              <a:spcPct val="100000"/>
            </a:lnSpc>
            <a:spcBef>
              <a:spcPct val="0"/>
            </a:spcBef>
            <a:spcAft>
              <a:spcPct val="35000"/>
            </a:spcAft>
            <a:buNone/>
          </a:pPr>
          <a:r>
            <a:rPr lang="en-US" sz="3500" kern="1200" noProof="0" dirty="0"/>
            <a:t>Image (OCR)</a:t>
          </a:r>
          <a:endParaRPr lang="en-GB" sz="3500" kern="1200" noProof="0" dirty="0"/>
        </a:p>
      </dsp:txBody>
      <dsp:txXfrm>
        <a:off x="755666" y="1425575"/>
        <a:ext cx="7100266" cy="712787"/>
      </dsp:txXfrm>
    </dsp:sp>
    <dsp:sp modelId="{3F8116AC-FAC3-4E95-9865-93CCFEB191B9}">
      <dsp:nvSpPr>
        <dsp:cNvPr id="0" name=""/>
        <dsp:cNvSpPr/>
      </dsp:nvSpPr>
      <dsp:spPr>
        <a:xfrm>
          <a:off x="310174" y="1336476"/>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47D7F30-4C2B-4905-9E8C-4B53F300116F}">
      <dsp:nvSpPr>
        <dsp:cNvPr id="0" name=""/>
        <dsp:cNvSpPr/>
      </dsp:nvSpPr>
      <dsp:spPr>
        <a:xfrm>
          <a:off x="496568" y="2494756"/>
          <a:ext cx="7359365"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8900" rIns="88900" bIns="88900" numCol="1" spcCol="1270" rtlCol="0" anchor="ctr" anchorCtr="0">
          <a:noAutofit/>
        </a:bodyPr>
        <a:lstStyle/>
        <a:p>
          <a:pPr marL="0" lvl="0" indent="0" algn="l" defTabSz="1555750" rtl="0">
            <a:lnSpc>
              <a:spcPct val="100000"/>
            </a:lnSpc>
            <a:spcBef>
              <a:spcPct val="0"/>
            </a:spcBef>
            <a:spcAft>
              <a:spcPct val="35000"/>
            </a:spcAft>
            <a:buNone/>
          </a:pPr>
          <a:r>
            <a:rPr lang="en-GB" sz="3500" kern="1200" noProof="0" dirty="0"/>
            <a:t>Text evaluation (Transformer AES)</a:t>
          </a:r>
        </a:p>
      </dsp:txBody>
      <dsp:txXfrm>
        <a:off x="496568" y="2494756"/>
        <a:ext cx="7359365" cy="712787"/>
      </dsp:txXfrm>
    </dsp:sp>
    <dsp:sp modelId="{A965097E-32F1-4AB8-8C4E-2814A7596B2F}">
      <dsp:nvSpPr>
        <dsp:cNvPr id="0" name=""/>
        <dsp:cNvSpPr/>
      </dsp:nvSpPr>
      <dsp:spPr>
        <a:xfrm>
          <a:off x="51076" y="2405658"/>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ADBC529-8773-4D02-8CFA-ADB515C5CBA3}" type="datetime1">
              <a:rPr lang="en-GB" smtClean="0"/>
              <a:t>17/05/2026</a:t>
            </a:fld>
            <a:endParaRPr lang="en-GB"/>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en-GB" smtClean="0"/>
              <a:t>‹#›</a:t>
            </a:fld>
            <a:endParaRPr lang="en-GB"/>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4777525A-FAFB-4452-AC36-0F7189B7A6A9}" type="datetime1">
              <a:rPr lang="en-GB" noProof="0" smtClean="0"/>
              <a:t>17/05/2026</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en-GB" noProof="0" smtClean="0"/>
              <a:t>‹#›</a:t>
            </a:fld>
            <a:endParaRPr lang="en-GB"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en-US" dirty="0"/>
              <a:t>Hi, I am Asa Dorville and this is a presentation of my project proposal. I chose the project idea: 4.1 - Orchestrating AI models to achieve a goal</a:t>
            </a:r>
            <a:endParaRPr lang="en-GB" dirty="0"/>
          </a:p>
        </p:txBody>
      </p:sp>
      <p:sp>
        <p:nvSpPr>
          <p:cNvPr id="4" name="Slide Number Placeholder 3"/>
          <p:cNvSpPr>
            <a:spLocks noGrp="1"/>
          </p:cNvSpPr>
          <p:nvPr>
            <p:ph type="sldNum" sz="quarter" idx="5"/>
          </p:nvPr>
        </p:nvSpPr>
        <p:spPr/>
        <p:txBody>
          <a:bodyPr rtlCol="0"/>
          <a:lstStyle/>
          <a:p>
            <a:pPr rtl="0"/>
            <a:fld id="{C6B3AB32-59DF-41F1-9618-EDFBF5049629}" type="slidenum">
              <a:rPr lang="en-GB" smtClean="0"/>
              <a:t>1</a:t>
            </a:fld>
            <a:endParaRPr lang="en-GB"/>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en-GB" sz="1200" kern="1200" dirty="0">
                <a:solidFill>
                  <a:schemeClr val="tx1"/>
                </a:solidFill>
                <a:effectLst/>
                <a:latin typeface="+mn-lt"/>
                <a:ea typeface="+mn-ea"/>
                <a:cs typeface="+mn-cs"/>
              </a:rPr>
              <a:t>I am a teacher and personally understand the stressful, time-consuming ordeal that my colleagues and I must endure when marking answers to open-ended questions. It is impossible to remove bias and inconsistency from the marking process due to inherent human traits. There is also no provision besides an assigned scribe being made available to cater to students who can speak but are unable to write or type due to disability. This arrangement although well intentioned, is time consuming and intimidating to some students. </a:t>
            </a:r>
            <a:endParaRPr lang="en-GB" dirty="0"/>
          </a:p>
        </p:txBody>
      </p:sp>
      <p:sp>
        <p:nvSpPr>
          <p:cNvPr id="4" name="Slide Number Placeholder 3"/>
          <p:cNvSpPr>
            <a:spLocks noGrp="1"/>
          </p:cNvSpPr>
          <p:nvPr>
            <p:ph type="sldNum" sz="quarter" idx="5"/>
          </p:nvPr>
        </p:nvSpPr>
        <p:spPr/>
        <p:txBody>
          <a:bodyPr rtlCol="0"/>
          <a:lstStyle/>
          <a:p>
            <a:pPr rtl="0"/>
            <a:fld id="{C6B3AB32-59DF-41F1-9618-EDFBF5049629}" type="slidenum">
              <a:rPr lang="en-GB" smtClean="0"/>
              <a:t>2</a:t>
            </a:fld>
            <a:endParaRPr lang="en-GB"/>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Lagakis and </a:t>
            </a:r>
            <a:r>
              <a:rPr lang="en-GB" sz="1200" kern="1200" dirty="0" err="1">
                <a:solidFill>
                  <a:schemeClr val="tx1"/>
                </a:solidFill>
                <a:effectLst/>
                <a:latin typeface="+mn-lt"/>
                <a:ea typeface="+mn-ea"/>
                <a:cs typeface="+mn-cs"/>
              </a:rPr>
              <a:t>Demetriadis</a:t>
            </a:r>
            <a:r>
              <a:rPr lang="en-GB" sz="1200" kern="1200" dirty="0">
                <a:solidFill>
                  <a:schemeClr val="tx1"/>
                </a:solidFill>
                <a:effectLst/>
                <a:latin typeface="+mn-lt"/>
                <a:ea typeface="+mn-ea"/>
                <a:cs typeface="+mn-cs"/>
              </a:rPr>
              <a:t> (2021) divided AES systems into two categories:</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Those using feature engineering models with handcrafted features</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Those with neural approaches that can extract features automatically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According to these researchers, Project Essay Grader TM (PEG), an early AES system used supervised learning with linear regression and leveraged the benefits of handcrafted features. Yang (2024) also described the E-Rater system as employing similar methods. Yang also indicated that reliance on surface-level textual features such as sentence length and word frequency, limited handmade systems in capturing semantic meaning and conceptual quality. Mahmud and Hoo (2024) concluded that the performance of deep learning models with respect to modelling complex linguistic and cognitive qualities inherent in essays was not significant. Han and Myint (2024) carried out a comparative study on the performance of LSTM, Bi-LSTM and BERT and concluded that BERT, a transformer model, demonstrated superior performance. </a:t>
            </a:r>
            <a:r>
              <a:rPr lang="en-GB" sz="1200" kern="1200" dirty="0" err="1">
                <a:solidFill>
                  <a:schemeClr val="tx1"/>
                </a:solidFill>
                <a:effectLst/>
                <a:latin typeface="+mn-lt"/>
                <a:ea typeface="+mn-ea"/>
                <a:cs typeface="+mn-cs"/>
              </a:rPr>
              <a:t>Elmassry</a:t>
            </a:r>
            <a:r>
              <a:rPr lang="en-GB" sz="1200" kern="1200" dirty="0">
                <a:solidFill>
                  <a:schemeClr val="tx1"/>
                </a:solidFill>
                <a:effectLst/>
                <a:latin typeface="+mn-lt"/>
                <a:ea typeface="+mn-ea"/>
                <a:cs typeface="+mn-cs"/>
              </a:rPr>
              <a:t> et al. (2025) commented on  transformer-based models as having better scoring accuracy due to their ability to analyse text more thoroughly interpreting connections between words even when they are not in proximity. </a:t>
            </a:r>
          </a:p>
          <a:p>
            <a:endParaRPr lang="en-GB" dirty="0"/>
          </a:p>
        </p:txBody>
      </p:sp>
      <p:sp>
        <p:nvSpPr>
          <p:cNvPr id="4" name="Slide Number Placeholder 3"/>
          <p:cNvSpPr>
            <a:spLocks noGrp="1"/>
          </p:cNvSpPr>
          <p:nvPr>
            <p:ph type="sldNum" sz="quarter" idx="5"/>
          </p:nvPr>
        </p:nvSpPr>
        <p:spPr/>
        <p:txBody>
          <a:bodyPr/>
          <a:lstStyle/>
          <a:p>
            <a:pPr rtl="0"/>
            <a:fld id="{C6B3AB32-59DF-41F1-9618-EDFBF5049629}" type="slidenum">
              <a:rPr lang="en-GB" smtClean="0"/>
              <a:t>4</a:t>
            </a:fld>
            <a:endParaRPr lang="en-GB"/>
          </a:p>
        </p:txBody>
      </p:sp>
    </p:spTree>
    <p:extLst>
      <p:ext uri="{BB962C8B-B14F-4D97-AF65-F5344CB8AC3E}">
        <p14:creationId xmlns:p14="http://schemas.microsoft.com/office/powerpoint/2010/main" val="2130551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Even after extensive research spanning more than two decades in AES, no single model has achieved near-perfect accuracy in scoring sufficient to replace human scorers. Consequently, AES remains an open research problem. Lagakis and </a:t>
            </a:r>
            <a:r>
              <a:rPr lang="en-GB" sz="1200" kern="1200" dirty="0" err="1">
                <a:solidFill>
                  <a:schemeClr val="tx1"/>
                </a:solidFill>
                <a:effectLst/>
                <a:latin typeface="+mn-lt"/>
                <a:ea typeface="+mn-ea"/>
                <a:cs typeface="+mn-cs"/>
              </a:rPr>
              <a:t>Demetriadis</a:t>
            </a:r>
            <a:r>
              <a:rPr lang="en-GB" sz="1200" kern="1200" dirty="0">
                <a:solidFill>
                  <a:schemeClr val="tx1"/>
                </a:solidFill>
                <a:effectLst/>
                <a:latin typeface="+mn-lt"/>
                <a:ea typeface="+mn-ea"/>
                <a:cs typeface="+mn-cs"/>
              </a:rPr>
              <a:t> suggests not relying solely on transformer models and like Artha et al. (2026) proposed a technique of combining transformers with more traditional approaches like those that employ handcrafted features. Artha et al. indicated that when models work in combination the results are more promising. </a:t>
            </a:r>
            <a:r>
              <a:rPr lang="en-GB" sz="1200" kern="1200" dirty="0" err="1">
                <a:solidFill>
                  <a:schemeClr val="tx1"/>
                </a:solidFill>
                <a:effectLst/>
                <a:latin typeface="+mn-lt"/>
                <a:ea typeface="+mn-ea"/>
                <a:cs typeface="+mn-cs"/>
              </a:rPr>
              <a:t>Chimingyang</a:t>
            </a:r>
            <a:r>
              <a:rPr lang="en-GB" sz="1200" kern="1200" dirty="0">
                <a:solidFill>
                  <a:schemeClr val="tx1"/>
                </a:solidFill>
                <a:effectLst/>
                <a:latin typeface="+mn-lt"/>
                <a:ea typeface="+mn-ea"/>
                <a:cs typeface="+mn-cs"/>
              </a:rPr>
              <a:t> (2020) used a hybrid model – LSTM and Word Embedding and achieved a Quadratic Weighted Kappa (QWK) score of 0.94. </a:t>
            </a:r>
          </a:p>
          <a:p>
            <a:pPr rtl="0"/>
            <a:endParaRPr lang="en-GB" dirty="0"/>
          </a:p>
        </p:txBody>
      </p:sp>
      <p:sp>
        <p:nvSpPr>
          <p:cNvPr id="4" name="Slide Number Placeholder 3"/>
          <p:cNvSpPr>
            <a:spLocks noGrp="1"/>
          </p:cNvSpPr>
          <p:nvPr>
            <p:ph type="sldNum" sz="quarter" idx="5"/>
          </p:nvPr>
        </p:nvSpPr>
        <p:spPr/>
        <p:txBody>
          <a:bodyPr rtlCol="0"/>
          <a:lstStyle/>
          <a:p>
            <a:pPr rtl="0"/>
            <a:fld id="{C6B3AB32-59DF-41F1-9618-EDFBF5049629}" type="slidenum">
              <a:rPr lang="en-GB" smtClean="0"/>
              <a:t>5</a:t>
            </a:fld>
            <a:endParaRPr lang="en-GB"/>
          </a:p>
        </p:txBody>
      </p:sp>
    </p:spTree>
    <p:extLst>
      <p:ext uri="{BB962C8B-B14F-4D97-AF65-F5344CB8AC3E}">
        <p14:creationId xmlns:p14="http://schemas.microsoft.com/office/powerpoint/2010/main" val="3505115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8F893-E81E-89BF-523E-EF0C9A3CC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36A3C-FF85-64F8-AD72-3DD3C35BFC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7A097-2034-0027-9458-A788A475858C}"/>
              </a:ext>
            </a:extLst>
          </p:cNvPr>
          <p:cNvSpPr>
            <a:spLocks noGrp="1"/>
          </p:cNvSpPr>
          <p:nvPr>
            <p:ph type="body" idx="1"/>
          </p:nvPr>
        </p:nvSpPr>
        <p:spPr/>
        <p:txBody>
          <a:bodyPr rtlCol="0"/>
          <a:lstStyle/>
          <a:p>
            <a:r>
              <a:rPr lang="en-GB" sz="1200" kern="1200" dirty="0">
                <a:solidFill>
                  <a:schemeClr val="tx1"/>
                </a:solidFill>
                <a:effectLst/>
                <a:latin typeface="+mn-lt"/>
                <a:ea typeface="+mn-ea"/>
                <a:cs typeface="+mn-cs"/>
              </a:rPr>
              <a:t>Therefore, this research proposes a hybrid approach, supported by the conclusion reached by three of the previously cited researchers after evaluating the performance of stand-alone models in comparison to them. This proposed model will leverage the capabilities of three pretrained models:</a:t>
            </a:r>
          </a:p>
          <a:p>
            <a:endParaRPr lang="en-GB"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A speech-to-text model: to capture answers provided in audio format and convert these to digital text for analysis by the AES system for evaluation. This will capture verbal expression allowing for equal opportunity in the classroom. </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An image-to-text model: to perform optical character recognition from scanned documents or textual data from images for analysis by the AES system. Catering to written documents. </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A transformer model: to perform contextual, semantic and coherence analysis in support of holistic essay scoring. This component forms the core analytical engine of the proposed system since final essay evaluation will depend primarily on its contextual and semantic assessment capabilities.</a:t>
            </a:r>
          </a:p>
          <a:p>
            <a:pPr marL="0" lvl="0" indent="0">
              <a:buFont typeface="Arial" panose="020B0604020202020204" pitchFamily="34" charset="0"/>
              <a:buNone/>
            </a:pPr>
            <a:endParaRPr lang="en-GB" sz="1200" kern="1200" dirty="0">
              <a:solidFill>
                <a:schemeClr val="tx1"/>
              </a:solidFill>
              <a:effectLst/>
              <a:latin typeface="+mn-lt"/>
              <a:ea typeface="+mn-ea"/>
              <a:cs typeface="+mn-cs"/>
            </a:endParaRPr>
          </a:p>
          <a:p>
            <a:pPr marL="0" lvl="0" indent="0">
              <a:buFont typeface="Arial" panose="020B0604020202020204" pitchFamily="34" charset="0"/>
              <a:buNone/>
            </a:pPr>
            <a:r>
              <a:rPr lang="en-GB" sz="1200" kern="1200" dirty="0">
                <a:solidFill>
                  <a:schemeClr val="tx1"/>
                </a:solidFill>
                <a:effectLst/>
                <a:latin typeface="+mn-lt"/>
                <a:ea typeface="+mn-ea"/>
                <a:cs typeface="+mn-cs"/>
              </a:rPr>
              <a:t>The Workflow: </a:t>
            </a:r>
          </a:p>
          <a:p>
            <a:pPr marL="0" lvl="0" indent="0">
              <a:buFont typeface="Arial" panose="020B0604020202020204" pitchFamily="34" charset="0"/>
              <a:buNone/>
            </a:pP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Output from the speech-to-text and image-to-text models will be transformed into machine-readable text and fed as input to the transformer model for contextual and semantic analysis and final holistic scoring. This proposed 3-model architecture, aims to investigate whether a hybrid multi-modal system can improve the accessibility, consistency and reliability of AES systems. </a:t>
            </a:r>
          </a:p>
          <a:p>
            <a:pPr rtl="0"/>
            <a:endParaRPr lang="en-GB" dirty="0"/>
          </a:p>
        </p:txBody>
      </p:sp>
      <p:sp>
        <p:nvSpPr>
          <p:cNvPr id="4" name="Slide Number Placeholder 3">
            <a:extLst>
              <a:ext uri="{FF2B5EF4-FFF2-40B4-BE49-F238E27FC236}">
                <a16:creationId xmlns:a16="http://schemas.microsoft.com/office/drawing/2014/main" id="{3EA42A25-5711-EE89-D439-19C024DB5583}"/>
              </a:ext>
            </a:extLst>
          </p:cNvPr>
          <p:cNvSpPr>
            <a:spLocks noGrp="1"/>
          </p:cNvSpPr>
          <p:nvPr>
            <p:ph type="sldNum" sz="quarter" idx="5"/>
          </p:nvPr>
        </p:nvSpPr>
        <p:spPr/>
        <p:txBody>
          <a:bodyPr rtlCol="0"/>
          <a:lstStyle/>
          <a:p>
            <a:pPr rtl="0"/>
            <a:fld id="{C6B3AB32-59DF-41F1-9618-EDFBF5049629}" type="slidenum">
              <a:rPr lang="en-GB" smtClean="0"/>
              <a:t>6</a:t>
            </a:fld>
            <a:endParaRPr lang="en-GB"/>
          </a:p>
        </p:txBody>
      </p:sp>
    </p:spTree>
    <p:extLst>
      <p:ext uri="{BB962C8B-B14F-4D97-AF65-F5344CB8AC3E}">
        <p14:creationId xmlns:p14="http://schemas.microsoft.com/office/powerpoint/2010/main" val="2453611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C6B3AB32-59DF-41F1-9618-EDFBF5049629}" type="slidenum">
              <a:rPr lang="en-GB" noProof="0" smtClean="0"/>
              <a:t>7</a:t>
            </a:fld>
            <a:endParaRPr lang="en-GB" noProof="0"/>
          </a:p>
        </p:txBody>
      </p:sp>
    </p:spTree>
    <p:extLst>
      <p:ext uri="{BB962C8B-B14F-4D97-AF65-F5344CB8AC3E}">
        <p14:creationId xmlns:p14="http://schemas.microsoft.com/office/powerpoint/2010/main" val="3699205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C6B3AB32-59DF-41F1-9618-EDFBF5049629}" type="slidenum">
              <a:rPr lang="en-GB" smtClean="0"/>
              <a:t>8</a:t>
            </a:fld>
            <a:endParaRPr lang="en-GB"/>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n-US" noProof="0"/>
              <a:t>Click to edit Master subtitle style</a:t>
            </a:r>
            <a:endParaRPr lang="en-GB" noProof="0"/>
          </a:p>
        </p:txBody>
      </p:sp>
      <p:sp>
        <p:nvSpPr>
          <p:cNvPr id="4" name="Date Placeholder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303A4E85-D1CF-4174-8E96-0E716FE67106}" type="datetime1">
              <a:rPr lang="en-GB" noProof="0" smtClean="0"/>
              <a:t>17/05/2026</a:t>
            </a:fld>
            <a:endParaRPr lang="en-GB" noProof="0"/>
          </a:p>
        </p:txBody>
      </p:sp>
      <p:sp>
        <p:nvSpPr>
          <p:cNvPr id="5" name="Footer Placeholder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en-GB" noProof="0"/>
          </a:p>
        </p:txBody>
      </p:sp>
      <p:sp>
        <p:nvSpPr>
          <p:cNvPr id="6" name="Slide Number Placeholder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702156"/>
            <a:ext cx="11029616" cy="1013800"/>
          </a:xfrm>
        </p:spPr>
        <p:txBody>
          <a:bodyPr rtlCol="0"/>
          <a:lstStyle/>
          <a:p>
            <a:pPr rtl="0"/>
            <a:r>
              <a:rPr lang="en-US" noProof="0"/>
              <a:t>Click to edit Master title style</a:t>
            </a:r>
            <a:endParaRPr lang="en-GB" noProof="0"/>
          </a:p>
        </p:txBody>
      </p:sp>
      <p:sp>
        <p:nvSpPr>
          <p:cNvPr id="3" name="Content Placeholder 2"/>
          <p:cNvSpPr>
            <a:spLocks noGrp="1"/>
          </p:cNvSpPr>
          <p:nvPr>
            <p:ph idx="1" hasCustomPrompt="1"/>
          </p:nvPr>
        </p:nvSpPr>
        <p:spPr>
          <a:xfrm>
            <a:off x="581192" y="2180496"/>
            <a:ext cx="11029615" cy="3678303"/>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E3DCA11A-9768-448A-88A0-EBE3646E26CE}" type="datetime1">
              <a:rPr lang="en-GB" noProof="0" smtClean="0"/>
              <a:t>17/05/2026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a:xfrm>
            <a:off x="10558300" y="5956137"/>
            <a:ext cx="1052508" cy="365125"/>
          </a:xfrm>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GB" noProof="0"/>
              <a:t>Edit Master text styles</a:t>
            </a:r>
          </a:p>
        </p:txBody>
      </p:sp>
      <p:sp>
        <p:nvSpPr>
          <p:cNvPr id="4" name="Date Placeholder 3"/>
          <p:cNvSpPr>
            <a:spLocks noGrp="1"/>
          </p:cNvSpPr>
          <p:nvPr>
            <p:ph type="dt" sz="half" idx="10"/>
          </p:nvPr>
        </p:nvSpPr>
        <p:spPr/>
        <p:txBody>
          <a:bodyPr rtlCol="0"/>
          <a:lstStyle>
            <a:lvl1pPr>
              <a:defRPr>
                <a:solidFill>
                  <a:schemeClr val="accent1">
                    <a:lumMod val="75000"/>
                    <a:lumOff val="25000"/>
                  </a:schemeClr>
                </a:solidFill>
              </a:defRPr>
            </a:lvl1pPr>
          </a:lstStyle>
          <a:p>
            <a:pPr rtl="0"/>
            <a:fld id="{1FEDAE78-A3F9-426C-8A41-9692E3443471}" type="datetime1">
              <a:rPr lang="en-GB" noProof="0" smtClean="0"/>
              <a:t>17/05/2026</a:t>
            </a:fld>
            <a:endParaRPr lang="en-GB" noProof="0"/>
          </a:p>
        </p:txBody>
      </p:sp>
      <p:sp>
        <p:nvSpPr>
          <p:cNvPr id="5" name="Footer Placeholder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n-GB" noProof="0"/>
          </a:p>
        </p:txBody>
      </p:sp>
      <p:sp>
        <p:nvSpPr>
          <p:cNvPr id="6" name="Slide Number Placeholder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3" y="729658"/>
            <a:ext cx="11029616" cy="988332"/>
          </a:xfrm>
        </p:spPr>
        <p:txBody>
          <a:bodyPr rtlCol="0"/>
          <a:lstStyle/>
          <a:p>
            <a:pPr rtl="0"/>
            <a:r>
              <a:rPr lang="en-US" noProof="0"/>
              <a:t>Click to edit Master title style</a:t>
            </a:r>
            <a:endParaRPr lang="en-GB" noProof="0"/>
          </a:p>
        </p:txBody>
      </p:sp>
      <p:sp>
        <p:nvSpPr>
          <p:cNvPr id="3" name="Content Placeholder 2"/>
          <p:cNvSpPr>
            <a:spLocks noGrp="1"/>
          </p:cNvSpPr>
          <p:nvPr>
            <p:ph sz="half" idx="1" hasCustomPrompt="1"/>
          </p:nvPr>
        </p:nvSpPr>
        <p:spPr>
          <a:xfrm>
            <a:off x="581193" y="2228003"/>
            <a:ext cx="5422390" cy="3633047"/>
          </a:xfrm>
        </p:spPr>
        <p:txBody>
          <a:bodyPr rtlCol="0">
            <a:normAutofit/>
          </a:body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Content Placeholder 3"/>
          <p:cNvSpPr>
            <a:spLocks noGrp="1"/>
          </p:cNvSpPr>
          <p:nvPr>
            <p:ph sz="half" idx="2" hasCustomPrompt="1"/>
          </p:nvPr>
        </p:nvSpPr>
        <p:spPr>
          <a:xfrm>
            <a:off x="6188417" y="2228003"/>
            <a:ext cx="5422392" cy="3633047"/>
          </a:xfrm>
        </p:spPr>
        <p:txBody>
          <a:bodyPr rtlCol="0">
            <a:normAutofit/>
          </a:body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Date Placeholder 4"/>
          <p:cNvSpPr>
            <a:spLocks noGrp="1"/>
          </p:cNvSpPr>
          <p:nvPr>
            <p:ph type="dt" sz="half" idx="10"/>
          </p:nvPr>
        </p:nvSpPr>
        <p:spPr/>
        <p:txBody>
          <a:bodyPr rtlCol="0"/>
          <a:lstStyle/>
          <a:p>
            <a:pPr rtl="0"/>
            <a:fld id="{E17F9CBD-9AAB-4D08-A1FC-12CB5054CF84}" type="datetime1">
              <a:rPr lang="en-GB" noProof="0" smtClean="0"/>
              <a:t>17/05/2026</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rtlCol="0"/>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4" name="Content Placeholder 3"/>
          <p:cNvSpPr>
            <a:spLocks noGrp="1"/>
          </p:cNvSpPr>
          <p:nvPr>
            <p:ph sz="half" idx="2" hasCustomPrompt="1"/>
          </p:nvPr>
        </p:nvSpPr>
        <p:spPr>
          <a:xfrm>
            <a:off x="581194" y="2926052"/>
            <a:ext cx="5393100" cy="2934999"/>
          </a:xfrm>
        </p:spPr>
        <p:txBody>
          <a:bodyPr rtlCol="0" anchor="t">
            <a:normAutofit/>
          </a:body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6" name="Content Placeholder 5"/>
          <p:cNvSpPr>
            <a:spLocks noGrp="1"/>
          </p:cNvSpPr>
          <p:nvPr>
            <p:ph sz="quarter" idx="4" hasCustomPrompt="1"/>
          </p:nvPr>
        </p:nvSpPr>
        <p:spPr>
          <a:xfrm>
            <a:off x="6217709" y="2926052"/>
            <a:ext cx="5393100" cy="2934999"/>
          </a:xfrm>
        </p:spPr>
        <p:txBody>
          <a:bodyPr rtlCol="0" anchor="t">
            <a:normAutofit/>
          </a:body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p>
            <a:pPr rtl="0"/>
            <a:fld id="{A9E97160-1FA1-4003-9894-A2FDBE217EB3}" type="datetime1">
              <a:rPr lang="en-GB" noProof="0" smtClean="0"/>
              <a:t>17/05/2026</a:t>
            </a:fld>
            <a:endParaRPr lang="en-GB" noProof="0"/>
          </a:p>
        </p:txBody>
      </p:sp>
      <p:sp>
        <p:nvSpPr>
          <p:cNvPr id="8" name="Footer Placeholder 7"/>
          <p:cNvSpPr>
            <a:spLocks noGrp="1"/>
          </p:cNvSpPr>
          <p:nvPr>
            <p:ph type="ftr" sz="quarter" idx="11"/>
          </p:nvPr>
        </p:nvSpPr>
        <p:spPr/>
        <p:txBody>
          <a:bodyPr rtlCol="0"/>
          <a:lstStyle/>
          <a:p>
            <a:pPr rtl="0"/>
            <a:endParaRPr lang="en-GB" noProof="0"/>
          </a:p>
        </p:txBody>
      </p:sp>
      <p:sp>
        <p:nvSpPr>
          <p:cNvPr id="9" name="Slide Number Placeholder 8"/>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rtlCol="0"/>
          <a:lstStyle/>
          <a:p>
            <a:pPr rtl="0"/>
            <a:fld id="{25F76C7B-B428-4E1D-8DC1-C83A59B39C9C}" type="datetime1">
              <a:rPr lang="en-GB" noProof="0" smtClean="0"/>
              <a:t>17/05/2026</a:t>
            </a:fld>
            <a:endParaRPr lang="en-GB" noProof="0"/>
          </a:p>
        </p:txBody>
      </p:sp>
      <p:sp>
        <p:nvSpPr>
          <p:cNvPr id="4" name="Footer Placeholder 3"/>
          <p:cNvSpPr>
            <a:spLocks noGrp="1"/>
          </p:cNvSpPr>
          <p:nvPr>
            <p:ph type="ftr" sz="quarter" idx="11"/>
          </p:nvPr>
        </p:nvSpPr>
        <p:spPr/>
        <p:txBody>
          <a:bodyPr rtlCol="0"/>
          <a:lstStyle/>
          <a:p>
            <a:pPr rtl="0"/>
            <a:endParaRPr lang="en-GB" noProof="0"/>
          </a:p>
        </p:txBody>
      </p:sp>
      <p:sp>
        <p:nvSpPr>
          <p:cNvPr id="5" name="Slide Number Placeholder 4"/>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rtlCol="0"/>
          <a:lstStyle/>
          <a:p>
            <a:pPr rtl="0"/>
            <a:r>
              <a:rPr lang="en-US" noProof="0"/>
              <a:t>Click to edit Master title style</a:t>
            </a:r>
            <a:endParaRPr lang="en-GB" noProof="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89227842-69A9-4D57-8696-571A640FF47C}" type="datetime1">
              <a:rPr lang="en-GB" noProof="0" smtClean="0"/>
              <a:t>17/05/2026</a:t>
            </a:fld>
            <a:endParaRPr lang="en-GB" noProof="0"/>
          </a:p>
        </p:txBody>
      </p:sp>
      <p:sp>
        <p:nvSpPr>
          <p:cNvPr id="3" name="Footer Placeholder 2"/>
          <p:cNvSpPr>
            <a:spLocks noGrp="1"/>
          </p:cNvSpPr>
          <p:nvPr>
            <p:ph type="ftr" sz="quarter" idx="11"/>
          </p:nvPr>
        </p:nvSpPr>
        <p:spPr/>
        <p:txBody>
          <a:bodyPr rtlCol="0"/>
          <a:lstStyle/>
          <a:p>
            <a:pPr rtl="0"/>
            <a:endParaRPr lang="en-GB" noProof="0"/>
          </a:p>
        </p:txBody>
      </p:sp>
      <p:sp>
        <p:nvSpPr>
          <p:cNvPr id="4" name="Slide Number Placeholder 3"/>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en-US" noProof="0"/>
              <a:t>Click to edit Master title style</a:t>
            </a:r>
            <a:endParaRPr lang="en-GB" noProof="0"/>
          </a:p>
        </p:txBody>
      </p:sp>
      <p:sp>
        <p:nvSpPr>
          <p:cNvPr id="3" name="Content Placeholder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Text Placeholder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Edit Master text styles</a:t>
            </a:r>
          </a:p>
        </p:txBody>
      </p:sp>
      <p:sp>
        <p:nvSpPr>
          <p:cNvPr id="5" name="Date Placeholder 4"/>
          <p:cNvSpPr>
            <a:spLocks noGrp="1"/>
          </p:cNvSpPr>
          <p:nvPr>
            <p:ph type="dt" sz="half" idx="10"/>
          </p:nvPr>
        </p:nvSpPr>
        <p:spPr/>
        <p:txBody>
          <a:bodyPr rtlCol="0"/>
          <a:lstStyle>
            <a:lvl1pPr>
              <a:defRPr>
                <a:solidFill>
                  <a:schemeClr val="accent1">
                    <a:lumMod val="75000"/>
                    <a:lumOff val="25000"/>
                  </a:schemeClr>
                </a:solidFill>
              </a:defRPr>
            </a:lvl1pPr>
          </a:lstStyle>
          <a:p>
            <a:pPr rtl="0"/>
            <a:fld id="{B6D4024D-709A-489C-A1E0-404FC4EC40E9}" type="datetime1">
              <a:rPr lang="en-GB" noProof="0" smtClean="0"/>
              <a:t>17/05/2026</a:t>
            </a:fld>
            <a:endParaRPr lang="en-GB" noProof="0"/>
          </a:p>
        </p:txBody>
      </p:sp>
      <p:sp>
        <p:nvSpPr>
          <p:cNvPr id="6" name="Footer Placeholder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n-GB" noProof="0"/>
          </a:p>
        </p:txBody>
      </p:sp>
      <p:sp>
        <p:nvSpPr>
          <p:cNvPr id="7" name="Slide Number Placeholder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en-US" noProof="0"/>
              <a:t>Click to edit Master title style</a:t>
            </a:r>
            <a:endParaRPr lang="en-GB" noProof="0"/>
          </a:p>
        </p:txBody>
      </p:sp>
      <p:sp>
        <p:nvSpPr>
          <p:cNvPr id="3" name="Picture Placeholder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US" noProof="0"/>
              <a:t>Click icon to add picture</a:t>
            </a:r>
            <a:endParaRPr lang="en-GB" noProof="0"/>
          </a:p>
        </p:txBody>
      </p:sp>
      <p:sp>
        <p:nvSpPr>
          <p:cNvPr id="4" name="Text Placeholder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Edit Master text styles</a:t>
            </a:r>
          </a:p>
        </p:txBody>
      </p:sp>
      <p:sp>
        <p:nvSpPr>
          <p:cNvPr id="5" name="Date Placeholder 4"/>
          <p:cNvSpPr>
            <a:spLocks noGrp="1"/>
          </p:cNvSpPr>
          <p:nvPr>
            <p:ph type="dt" sz="half" idx="10"/>
          </p:nvPr>
        </p:nvSpPr>
        <p:spPr/>
        <p:txBody>
          <a:bodyPr rtlCol="0"/>
          <a:lstStyle/>
          <a:p>
            <a:pPr rtl="0"/>
            <a:fld id="{5FFEA7D9-67F6-4FDA-9663-2C4F43E353A1}" type="datetime1">
              <a:rPr lang="en-GB" noProof="0" smtClean="0"/>
              <a:t>17/05/2026</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rtlCol="0"/>
          <a:lstStyle/>
          <a:p>
            <a:pPr rtl="0"/>
            <a:r>
              <a:rPr lang="en-US" noProof="0"/>
              <a:t>Click to edit Master title style</a:t>
            </a:r>
            <a:endParaRPr lang="en-GB" noProof="0"/>
          </a:p>
        </p:txBody>
      </p:sp>
      <p:sp>
        <p:nvSpPr>
          <p:cNvPr id="3" name="Vertical Text Placeholder 2"/>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6EBFDA4C-4741-4614-8CF1-6BBCA681C2EE}" type="datetime1">
              <a:rPr lang="en-GB" noProof="0" smtClean="0"/>
              <a:t>17/05/2026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rtlCol="0"/>
          <a:lstStyle/>
          <a:p>
            <a:pPr rtl="0"/>
            <a:r>
              <a:rPr lang="en-US" noProof="0"/>
              <a:t>Click to edit Master title style</a:t>
            </a:r>
            <a:endParaRPr lang="en-GB" noProof="0"/>
          </a:p>
        </p:txBody>
      </p:sp>
      <p:sp>
        <p:nvSpPr>
          <p:cNvPr id="3" name="Vertical Text Placeholder 2"/>
          <p:cNvSpPr>
            <a:spLocks noGrp="1"/>
          </p:cNvSpPr>
          <p:nvPr>
            <p:ph type="body" orient="vert" idx="1" hasCustomPrompt="1"/>
          </p:nvPr>
        </p:nvSpPr>
        <p:spPr>
          <a:xfrm>
            <a:off x="774923" y="675726"/>
            <a:ext cx="7896279" cy="5183073"/>
          </a:xfrm>
        </p:spPr>
        <p:txBody>
          <a:bodyPr vert="eaVert" rtlCol="0" anchor="t"/>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0663A167-FB84-446A-9868-9338781AA304}" type="datetime1">
              <a:rPr lang="en-GB" noProof="0" smtClean="0"/>
              <a:t>17/05/2026</a:t>
            </a:fld>
            <a:endParaRPr lang="en-GB" noProof="0"/>
          </a:p>
        </p:txBody>
      </p:sp>
      <p:sp>
        <p:nvSpPr>
          <p:cNvPr id="5" name="Footer Placeholder 4"/>
          <p:cNvSpPr>
            <a:spLocks noGrp="1"/>
          </p:cNvSpPr>
          <p:nvPr>
            <p:ph type="ftr" sz="quarter" idx="11"/>
          </p:nvPr>
        </p:nvSpPr>
        <p:spPr>
          <a:xfrm>
            <a:off x="774923" y="5951811"/>
            <a:ext cx="7896279" cy="365125"/>
          </a:xfrm>
        </p:spPr>
        <p:txBody>
          <a:bodyPr rtlCol="0"/>
          <a:lstStyle/>
          <a:p>
            <a:pPr rtl="0"/>
            <a:endParaRPr lang="en-GB" noProof="0"/>
          </a:p>
        </p:txBody>
      </p:sp>
      <p:sp>
        <p:nvSpPr>
          <p:cNvPr id="6" name="Slide Number Placeholder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4B4B326D-8F15-4B53-B18E-44A3026066F3}" type="datetime1">
              <a:rPr lang="en-GB" noProof="0" smtClean="0"/>
              <a:t>17/05/2026</a:t>
            </a:fld>
            <a:endParaRPr lang="en-GB" noProof="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en-GB" noProof="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en-GB" noProof="0" smtClean="0"/>
              <a:pPr/>
              <a:t>‹#›</a:t>
            </a:fld>
            <a:endParaRPr lang="en-GB" noProof="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jpeg"/><Relationship Id="rId7"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18025"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rtlCol="0">
            <a:noAutofit/>
          </a:bodyPr>
          <a:lstStyle/>
          <a:p>
            <a:pPr rtl="0"/>
            <a:r>
              <a:rPr lang="en-GB" sz="6000" dirty="0">
                <a:solidFill>
                  <a:schemeClr val="bg1"/>
                </a:solidFill>
              </a:rPr>
              <a:t>Project Proposal</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rtlCol="0">
            <a:normAutofit/>
          </a:bodyPr>
          <a:lstStyle/>
          <a:p>
            <a:pPr rtl="0"/>
            <a:r>
              <a:rPr lang="en-US" dirty="0">
                <a:solidFill>
                  <a:srgbClr val="7CEBFF"/>
                </a:solidFill>
              </a:rPr>
              <a:t>Project IDEA: ORCHESTRATING ai MODELS TO ACHIEVE A GOAL</a:t>
            </a:r>
            <a:endParaRPr lang="en-GB"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FDA9692-ECDC-4B59-86B2-8C90FDE1A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31" name="Rectangle 30">
            <a:extLst>
              <a:ext uri="{FF2B5EF4-FFF2-40B4-BE49-F238E27FC236}">
                <a16:creationId xmlns:a16="http://schemas.microsoft.com/office/drawing/2014/main" id="{12C05506-42A1-49C0-9D87-081CCD902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5264487"/>
            <a:ext cx="11029616" cy="718870"/>
          </a:xfrm>
        </p:spPr>
        <p:txBody>
          <a:bodyPr rtlCol="0">
            <a:normAutofit/>
          </a:bodyPr>
          <a:lstStyle/>
          <a:p>
            <a:pPr rtl="0"/>
            <a:r>
              <a:rPr lang="en-GB" dirty="0">
                <a:solidFill>
                  <a:srgbClr val="FFFEFF"/>
                </a:solidFill>
              </a:rPr>
              <a:t>The </a:t>
            </a:r>
            <a:r>
              <a:rPr lang="en-GB" dirty="0" err="1">
                <a:solidFill>
                  <a:srgbClr val="FFFEFF"/>
                </a:solidFill>
              </a:rPr>
              <a:t>pROBLEM</a:t>
            </a:r>
            <a:r>
              <a:rPr lang="en-GB" dirty="0">
                <a:solidFill>
                  <a:srgbClr val="FFFEFF"/>
                </a:solidFill>
              </a:rPr>
              <a:t>(s)</a:t>
            </a:r>
          </a:p>
        </p:txBody>
      </p:sp>
      <p:graphicFrame>
        <p:nvGraphicFramePr>
          <p:cNvPr id="4" name="Content Placeholder 3" descr="icon SmartArt graphic">
            <a:extLst>
              <a:ext uri="{FF2B5EF4-FFF2-40B4-BE49-F238E27FC236}">
                <a16:creationId xmlns:a16="http://schemas.microsoft.com/office/drawing/2014/main" id="{81E592E1-99DF-4294-A2E9-EF46299BD3F4}"/>
              </a:ext>
            </a:extLst>
          </p:cNvPr>
          <p:cNvGraphicFramePr>
            <a:graphicFrameLocks noGrp="1"/>
          </p:cNvGraphicFramePr>
          <p:nvPr>
            <p:ph idx="1"/>
            <p:extLst>
              <p:ext uri="{D42A27DB-BD31-4B8C-83A1-F6EECF244321}">
                <p14:modId xmlns:p14="http://schemas.microsoft.com/office/powerpoint/2010/main" val="839457499"/>
              </p:ext>
            </p:extLst>
          </p:nvPr>
        </p:nvGraphicFramePr>
        <p:xfrm>
          <a:off x="642938" y="858445"/>
          <a:ext cx="10906125" cy="39612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9FF269B9-E79E-91D0-EC35-0DD5C2F1E90C}"/>
              </a:ext>
            </a:extLst>
          </p:cNvPr>
          <p:cNvSpPr txBox="1"/>
          <p:nvPr/>
        </p:nvSpPr>
        <p:spPr>
          <a:xfrm>
            <a:off x="722376" y="1225296"/>
            <a:ext cx="2425664" cy="2031325"/>
          </a:xfrm>
          <a:prstGeom prst="rect">
            <a:avLst/>
          </a:prstGeom>
          <a:noFill/>
        </p:spPr>
        <p:txBody>
          <a:bodyPr wrap="none" rtlCol="0">
            <a:spAutoFit/>
          </a:bodyPr>
          <a:lstStyle/>
          <a:p>
            <a:r>
              <a:rPr lang="en-US" dirty="0"/>
              <a:t>Marking exam scripts is:</a:t>
            </a:r>
          </a:p>
          <a:p>
            <a:endParaRPr lang="en-US" dirty="0"/>
          </a:p>
          <a:p>
            <a:pPr marL="342900" indent="-342900">
              <a:buFont typeface="+mj-lt"/>
              <a:buAutoNum type="arabicPeriod"/>
            </a:pPr>
            <a:r>
              <a:rPr lang="en-US" dirty="0"/>
              <a:t>Time-consuming</a:t>
            </a:r>
          </a:p>
          <a:p>
            <a:pPr marL="342900" indent="-342900">
              <a:buFont typeface="+mj-lt"/>
              <a:buAutoNum type="arabicPeriod"/>
            </a:pPr>
            <a:r>
              <a:rPr lang="en-US" dirty="0"/>
              <a:t>Unreliable,</a:t>
            </a:r>
          </a:p>
          <a:p>
            <a:pPr marL="342900" indent="-342900">
              <a:buFont typeface="+mj-lt"/>
              <a:buAutoNum type="arabicPeriod"/>
            </a:pPr>
            <a:r>
              <a:rPr lang="en-US" dirty="0"/>
              <a:t>Subjective,</a:t>
            </a:r>
          </a:p>
          <a:p>
            <a:pPr marL="342900" indent="-342900">
              <a:buFont typeface="+mj-lt"/>
              <a:buAutoNum type="arabicPeriod"/>
            </a:pPr>
            <a:r>
              <a:rPr lang="en-US" dirty="0"/>
              <a:t>Inconsistent</a:t>
            </a:r>
          </a:p>
          <a:p>
            <a:pPr marL="342900" indent="-342900">
              <a:buFont typeface="+mj-lt"/>
              <a:buAutoNum type="arabicPeriod"/>
            </a:pPr>
            <a:r>
              <a:rPr lang="en-US" dirty="0"/>
              <a:t>Not scalable. </a:t>
            </a:r>
            <a:endParaRPr lang="en-GB" dirty="0"/>
          </a:p>
        </p:txBody>
      </p:sp>
      <p:sp>
        <p:nvSpPr>
          <p:cNvPr id="5" name="TextBox 4">
            <a:extLst>
              <a:ext uri="{FF2B5EF4-FFF2-40B4-BE49-F238E27FC236}">
                <a16:creationId xmlns:a16="http://schemas.microsoft.com/office/drawing/2014/main" id="{00910CB9-95CA-407B-2272-DAE152E3B4B4}"/>
              </a:ext>
            </a:extLst>
          </p:cNvPr>
          <p:cNvSpPr txBox="1"/>
          <p:nvPr/>
        </p:nvSpPr>
        <p:spPr>
          <a:xfrm>
            <a:off x="4887147" y="1225296"/>
            <a:ext cx="2412199" cy="1200329"/>
          </a:xfrm>
          <a:prstGeom prst="rect">
            <a:avLst/>
          </a:prstGeom>
          <a:noFill/>
        </p:spPr>
        <p:txBody>
          <a:bodyPr wrap="none" rtlCol="0">
            <a:spAutoFit/>
          </a:bodyPr>
          <a:lstStyle/>
          <a:p>
            <a:r>
              <a:rPr lang="en-US" dirty="0"/>
              <a:t>Data Collection:</a:t>
            </a:r>
          </a:p>
          <a:p>
            <a:endParaRPr lang="en-US" dirty="0"/>
          </a:p>
          <a:p>
            <a:pPr marL="342900" indent="-342900">
              <a:buFont typeface="+mj-lt"/>
              <a:buAutoNum type="arabicPeriod"/>
            </a:pPr>
            <a:r>
              <a:rPr lang="en-US" dirty="0"/>
              <a:t>Single Modality</a:t>
            </a:r>
          </a:p>
          <a:p>
            <a:pPr marL="342900" indent="-342900">
              <a:buFont typeface="+mj-lt"/>
              <a:buAutoNum type="arabicPeriod"/>
            </a:pPr>
            <a:r>
              <a:rPr lang="en-US" dirty="0"/>
              <a:t>Limited Accessibility</a:t>
            </a:r>
          </a:p>
        </p:txBody>
      </p:sp>
    </p:spTree>
    <p:extLst>
      <p:ext uri="{BB962C8B-B14F-4D97-AF65-F5344CB8AC3E}">
        <p14:creationId xmlns:p14="http://schemas.microsoft.com/office/powerpoint/2010/main" val="1703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8491-18E0-0274-CD1A-565FC4E3FF29}"/>
              </a:ext>
            </a:extLst>
          </p:cNvPr>
          <p:cNvSpPr>
            <a:spLocks noGrp="1"/>
          </p:cNvSpPr>
          <p:nvPr>
            <p:ph type="title"/>
          </p:nvPr>
        </p:nvSpPr>
        <p:spPr/>
        <p:txBody>
          <a:bodyPr/>
          <a:lstStyle/>
          <a:p>
            <a:r>
              <a:rPr lang="en-US" dirty="0"/>
              <a:t>Proposed Solution</a:t>
            </a:r>
            <a:endParaRPr lang="en-GB" dirty="0"/>
          </a:p>
        </p:txBody>
      </p:sp>
      <p:sp>
        <p:nvSpPr>
          <p:cNvPr id="3" name="Content Placeholder 2">
            <a:extLst>
              <a:ext uri="{FF2B5EF4-FFF2-40B4-BE49-F238E27FC236}">
                <a16:creationId xmlns:a16="http://schemas.microsoft.com/office/drawing/2014/main" id="{896E534E-0994-5DEA-71B7-96CD9F1AE8B3}"/>
              </a:ext>
            </a:extLst>
          </p:cNvPr>
          <p:cNvSpPr>
            <a:spLocks noGrp="1"/>
          </p:cNvSpPr>
          <p:nvPr>
            <p:ph idx="1"/>
          </p:nvPr>
        </p:nvSpPr>
        <p:spPr/>
        <p:txBody>
          <a:bodyPr/>
          <a:lstStyle/>
          <a:p>
            <a:r>
              <a:rPr lang="en-US" dirty="0"/>
              <a:t>An Automated Essay Scoring (AES) that is accessible to all students</a:t>
            </a:r>
            <a:endParaRPr lang="en-GB" dirty="0"/>
          </a:p>
        </p:txBody>
      </p:sp>
    </p:spTree>
    <p:extLst>
      <p:ext uri="{BB962C8B-B14F-4D97-AF65-F5344CB8AC3E}">
        <p14:creationId xmlns:p14="http://schemas.microsoft.com/office/powerpoint/2010/main" val="744113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n-GB" dirty="0"/>
              <a:t>Existing AES Research</a:t>
            </a:r>
          </a:p>
        </p:txBody>
      </p:sp>
      <p:sp>
        <p:nvSpPr>
          <p:cNvPr id="7" name="TextBox 6">
            <a:extLst>
              <a:ext uri="{FF2B5EF4-FFF2-40B4-BE49-F238E27FC236}">
                <a16:creationId xmlns:a16="http://schemas.microsoft.com/office/drawing/2014/main" id="{F14F9F8A-E2A0-34A1-A7AD-7572755FEAF7}"/>
              </a:ext>
            </a:extLst>
          </p:cNvPr>
          <p:cNvSpPr txBox="1"/>
          <p:nvPr/>
        </p:nvSpPr>
        <p:spPr>
          <a:xfrm>
            <a:off x="493776" y="2121408"/>
            <a:ext cx="3943259" cy="2031325"/>
          </a:xfrm>
          <a:prstGeom prst="rect">
            <a:avLst/>
          </a:prstGeom>
          <a:solidFill>
            <a:schemeClr val="accent1">
              <a:lumMod val="20000"/>
              <a:lumOff val="80000"/>
            </a:schemeClr>
          </a:solidFill>
        </p:spPr>
        <p:style>
          <a:lnRef idx="2">
            <a:schemeClr val="accent3"/>
          </a:lnRef>
          <a:fillRef idx="1">
            <a:schemeClr val="lt1"/>
          </a:fillRef>
          <a:effectRef idx="0">
            <a:schemeClr val="accent3"/>
          </a:effectRef>
          <a:fontRef idx="minor">
            <a:schemeClr val="dk1"/>
          </a:fontRef>
        </p:style>
        <p:txBody>
          <a:bodyPr wrap="none" rtlCol="0">
            <a:spAutoFit/>
          </a:bodyPr>
          <a:lstStyle/>
          <a:p>
            <a:r>
              <a:rPr lang="en-US" b="1" dirty="0"/>
              <a:t>Models with hand-crafted featured:</a:t>
            </a:r>
          </a:p>
          <a:p>
            <a:endParaRPr lang="en-US" dirty="0"/>
          </a:p>
          <a:p>
            <a:pPr marL="342900" indent="-342900">
              <a:buFont typeface="+mj-lt"/>
              <a:buAutoNum type="arabicPeriod"/>
            </a:pPr>
            <a:r>
              <a:rPr lang="en-GB" dirty="0"/>
              <a:t>Project Essay Grader TM (PEG) </a:t>
            </a:r>
          </a:p>
          <a:p>
            <a:pPr marL="342900" indent="-342900">
              <a:buFont typeface="+mj-lt"/>
              <a:buAutoNum type="arabicPeriod"/>
            </a:pPr>
            <a:r>
              <a:rPr lang="en-US" dirty="0"/>
              <a:t>E-RATER</a:t>
            </a:r>
          </a:p>
          <a:p>
            <a:pPr marL="342900" indent="-342900">
              <a:buFont typeface="+mj-lt"/>
              <a:buAutoNum type="arabicPeriod"/>
            </a:pPr>
            <a:r>
              <a:rPr lang="en-GB" dirty="0" err="1"/>
              <a:t>IntelliMetric</a:t>
            </a:r>
            <a:r>
              <a:rPr lang="en-GB" baseline="30000" dirty="0" err="1"/>
              <a:t>TM</a:t>
            </a:r>
            <a:endParaRPr lang="en-GB" baseline="30000" dirty="0"/>
          </a:p>
          <a:p>
            <a:pPr marL="342900" indent="-342900">
              <a:buFont typeface="+mj-lt"/>
              <a:buAutoNum type="arabicPeriod"/>
            </a:pPr>
            <a:r>
              <a:rPr lang="en-GB" dirty="0"/>
              <a:t>MY Access! </a:t>
            </a:r>
          </a:p>
          <a:p>
            <a:pPr marL="342900" indent="-342900">
              <a:buFont typeface="+mj-lt"/>
              <a:buAutoNum type="arabicPeriod"/>
            </a:pPr>
            <a:r>
              <a:rPr lang="en-GB" dirty="0" err="1"/>
              <a:t>Criterion</a:t>
            </a:r>
            <a:r>
              <a:rPr lang="en-GB" baseline="30000" dirty="0" err="1"/>
              <a:t>SM</a:t>
            </a:r>
            <a:r>
              <a:rPr lang="en-GB" dirty="0"/>
              <a:t> </a:t>
            </a:r>
          </a:p>
        </p:txBody>
      </p:sp>
      <p:sp>
        <p:nvSpPr>
          <p:cNvPr id="8" name="TextBox 7">
            <a:extLst>
              <a:ext uri="{FF2B5EF4-FFF2-40B4-BE49-F238E27FC236}">
                <a16:creationId xmlns:a16="http://schemas.microsoft.com/office/drawing/2014/main" id="{60D4B70A-1352-6932-2CF5-A728804F96C4}"/>
              </a:ext>
            </a:extLst>
          </p:cNvPr>
          <p:cNvSpPr txBox="1"/>
          <p:nvPr/>
        </p:nvSpPr>
        <p:spPr>
          <a:xfrm>
            <a:off x="4560096" y="2121408"/>
            <a:ext cx="3583018" cy="3970318"/>
          </a:xfrm>
          <a:prstGeom prst="rect">
            <a:avLst/>
          </a:prstGeom>
          <a:solidFill>
            <a:schemeClr val="accent1">
              <a:lumMod val="40000"/>
              <a:lumOff val="60000"/>
            </a:schemeClr>
          </a:solidFill>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b="1" dirty="0"/>
              <a:t>Models with neural approaches:</a:t>
            </a:r>
          </a:p>
          <a:p>
            <a:endParaRPr lang="en-US" dirty="0"/>
          </a:p>
          <a:p>
            <a:r>
              <a:rPr lang="en-US" b="1" dirty="0"/>
              <a:t>Sequential and Time-Series</a:t>
            </a:r>
          </a:p>
          <a:p>
            <a:pPr marL="342900" indent="-342900">
              <a:buFont typeface="Arial" panose="020B0604020202020204" pitchFamily="34" charset="0"/>
              <a:buChar char="•"/>
            </a:pPr>
            <a:r>
              <a:rPr lang="en-US" dirty="0"/>
              <a:t>LSTM</a:t>
            </a:r>
          </a:p>
          <a:p>
            <a:pPr marL="342900" indent="-342900">
              <a:buFont typeface="Arial" panose="020B0604020202020204" pitchFamily="34" charset="0"/>
              <a:buChar char="•"/>
            </a:pPr>
            <a:r>
              <a:rPr lang="en-US" dirty="0"/>
              <a:t>BI-LSTM</a:t>
            </a:r>
          </a:p>
          <a:p>
            <a:pPr marL="342900" indent="-342900">
              <a:buFont typeface="Arial" panose="020B0604020202020204" pitchFamily="34" charset="0"/>
              <a:buChar char="•"/>
            </a:pPr>
            <a:r>
              <a:rPr lang="en-US" dirty="0"/>
              <a:t>RNN</a:t>
            </a:r>
          </a:p>
          <a:p>
            <a:pPr marL="342900" indent="-342900">
              <a:buFont typeface="Arial" panose="020B0604020202020204" pitchFamily="34" charset="0"/>
              <a:buChar char="•"/>
            </a:pPr>
            <a:endParaRPr lang="en-US" dirty="0"/>
          </a:p>
          <a:p>
            <a:r>
              <a:rPr lang="en-US" b="1" dirty="0"/>
              <a:t>Spatial and Feature Extraction</a:t>
            </a:r>
          </a:p>
          <a:p>
            <a:pPr marL="342900" indent="-342900">
              <a:buFont typeface="Arial" panose="020B0604020202020204" pitchFamily="34" charset="0"/>
              <a:buChar char="•"/>
            </a:pPr>
            <a:r>
              <a:rPr lang="en-US" dirty="0"/>
              <a:t>CNN</a:t>
            </a:r>
          </a:p>
          <a:p>
            <a:pPr marL="342900" indent="-342900">
              <a:buFont typeface="Arial" panose="020B0604020202020204" pitchFamily="34" charset="0"/>
              <a:buChar char="•"/>
            </a:pPr>
            <a:endParaRPr lang="en-US" dirty="0"/>
          </a:p>
          <a:p>
            <a:r>
              <a:rPr lang="en-US" b="1" dirty="0"/>
              <a:t>General &amp; Modern Attention</a:t>
            </a:r>
          </a:p>
          <a:p>
            <a:pPr marL="342900" indent="-342900">
              <a:buFont typeface="Arial" panose="020B0604020202020204" pitchFamily="34" charset="0"/>
              <a:buChar char="•"/>
            </a:pPr>
            <a:r>
              <a:rPr lang="en-US" dirty="0"/>
              <a:t>Transformer</a:t>
            </a:r>
          </a:p>
          <a:p>
            <a:pPr marL="342900" indent="-342900">
              <a:buFont typeface="Arial" panose="020B0604020202020204" pitchFamily="34" charset="0"/>
              <a:buChar char="•"/>
            </a:pPr>
            <a:r>
              <a:rPr lang="en-US" dirty="0"/>
              <a:t>DNN</a:t>
            </a:r>
          </a:p>
          <a:p>
            <a:endParaRPr lang="en-US" dirty="0"/>
          </a:p>
        </p:txBody>
      </p:sp>
      <p:sp>
        <p:nvSpPr>
          <p:cNvPr id="13" name="TextBox 12">
            <a:extLst>
              <a:ext uri="{FF2B5EF4-FFF2-40B4-BE49-F238E27FC236}">
                <a16:creationId xmlns:a16="http://schemas.microsoft.com/office/drawing/2014/main" id="{4579C031-2ECD-28D5-EAF3-A67D215B9605}"/>
              </a:ext>
            </a:extLst>
          </p:cNvPr>
          <p:cNvSpPr txBox="1"/>
          <p:nvPr/>
        </p:nvSpPr>
        <p:spPr>
          <a:xfrm>
            <a:off x="8266176" y="2121408"/>
            <a:ext cx="3583018" cy="2031325"/>
          </a:xfrm>
          <a:prstGeom prst="rect">
            <a:avLst/>
          </a:prstGeom>
          <a:solidFill>
            <a:schemeClr val="accent1">
              <a:lumMod val="60000"/>
              <a:lumOff val="40000"/>
            </a:schemeClr>
          </a:solidFill>
        </p:spPr>
        <p:style>
          <a:lnRef idx="2">
            <a:schemeClr val="accent3"/>
          </a:lnRef>
          <a:fillRef idx="1">
            <a:schemeClr val="lt1"/>
          </a:fillRef>
          <a:effectRef idx="0">
            <a:schemeClr val="accent3"/>
          </a:effectRef>
          <a:fontRef idx="minor">
            <a:schemeClr val="dk1"/>
          </a:fontRef>
        </p:style>
        <p:txBody>
          <a:bodyPr wrap="square" rtlCol="0">
            <a:spAutoFit/>
          </a:bodyPr>
          <a:lstStyle/>
          <a:p>
            <a:endParaRPr lang="en-US" b="1" dirty="0"/>
          </a:p>
          <a:p>
            <a:r>
              <a:rPr lang="en-US" b="1" dirty="0"/>
              <a:t>Hybrid Systems</a:t>
            </a:r>
          </a:p>
          <a:p>
            <a:r>
              <a:rPr lang="en-US" dirty="0"/>
              <a:t>Semantic Similarity Scoring   + Rubric-Based Automated Scoring  + Generative Scoring</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497607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pic>
        <p:nvPicPr>
          <p:cNvPr id="8" name="Content Placeholder 4" descr="Digital Number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oup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Rectangle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Rectangle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7F2616EE-270D-4F4C-BA1F-2708D387B800}"/>
              </a:ext>
            </a:extLst>
          </p:cNvPr>
          <p:cNvSpPr>
            <a:spLocks noGrp="1"/>
          </p:cNvSpPr>
          <p:nvPr>
            <p:ph type="title"/>
          </p:nvPr>
        </p:nvSpPr>
        <p:spPr>
          <a:xfrm>
            <a:off x="584200" y="1006956"/>
            <a:ext cx="7213600" cy="1121871"/>
          </a:xfrm>
        </p:spPr>
        <p:txBody>
          <a:bodyPr rtlCol="0" anchor="ctr">
            <a:normAutofit/>
          </a:bodyPr>
          <a:lstStyle/>
          <a:p>
            <a:pPr algn="ctr" rtl="0"/>
            <a:r>
              <a:rPr lang="en-GB" dirty="0"/>
              <a:t>Gaps</a:t>
            </a:r>
          </a:p>
        </p:txBody>
      </p:sp>
      <p:graphicFrame>
        <p:nvGraphicFramePr>
          <p:cNvPr id="6" name="Content Placeholder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3357694435"/>
              </p:ext>
            </p:extLst>
          </p:nvPr>
        </p:nvGraphicFramePr>
        <p:xfrm>
          <a:off x="719570" y="2198254"/>
          <a:ext cx="7903222"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09322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DB7A43-FC96-D555-BB71-D3E8F190EDB8}"/>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B2AF538-108A-40C8-0CB8-0FA675BC9D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pic>
        <p:nvPicPr>
          <p:cNvPr id="8" name="Content Placeholder 4" descr="Digital Numbers">
            <a:extLst>
              <a:ext uri="{FF2B5EF4-FFF2-40B4-BE49-F238E27FC236}">
                <a16:creationId xmlns:a16="http://schemas.microsoft.com/office/drawing/2014/main" id="{EE361207-D49A-62BD-2B1D-9B5292A36C1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oup 14">
            <a:extLst>
              <a:ext uri="{FF2B5EF4-FFF2-40B4-BE49-F238E27FC236}">
                <a16:creationId xmlns:a16="http://schemas.microsoft.com/office/drawing/2014/main" id="{41D21510-B582-27ED-F95E-E80360ECB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28085B56-F5E4-36C3-7B2B-A01CE74FD3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Rectangle 16">
              <a:extLst>
                <a:ext uri="{FF2B5EF4-FFF2-40B4-BE49-F238E27FC236}">
                  <a16:creationId xmlns:a16="http://schemas.microsoft.com/office/drawing/2014/main" id="{FEF9B1F9-6C45-4C97-4D00-BEB37FC691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Rectangle 17">
              <a:extLst>
                <a:ext uri="{FF2B5EF4-FFF2-40B4-BE49-F238E27FC236}">
                  <a16:creationId xmlns:a16="http://schemas.microsoft.com/office/drawing/2014/main" id="{51D7BB01-9C3E-18C3-EEEB-2CBE732B81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052A8AD8-39CF-FA4B-BBF4-5A41713FFF80}"/>
              </a:ext>
            </a:extLst>
          </p:cNvPr>
          <p:cNvSpPr>
            <a:spLocks noGrp="1"/>
          </p:cNvSpPr>
          <p:nvPr>
            <p:ph type="title"/>
          </p:nvPr>
        </p:nvSpPr>
        <p:spPr>
          <a:xfrm>
            <a:off x="584200" y="1006956"/>
            <a:ext cx="7213600" cy="1121871"/>
          </a:xfrm>
        </p:spPr>
        <p:txBody>
          <a:bodyPr rtlCol="0" anchor="ctr">
            <a:normAutofit/>
          </a:bodyPr>
          <a:lstStyle/>
          <a:p>
            <a:pPr algn="ctr" rtl="0"/>
            <a:r>
              <a:rPr lang="en-US" dirty="0"/>
              <a:t>P</a:t>
            </a:r>
            <a:r>
              <a:rPr lang="en-GB" dirty="0" err="1"/>
              <a:t>roposed</a:t>
            </a:r>
            <a:r>
              <a:rPr lang="en-GB" dirty="0"/>
              <a:t> Architecture</a:t>
            </a:r>
            <a:br>
              <a:rPr lang="en-GB" dirty="0"/>
            </a:br>
            <a:endParaRPr lang="en-GB" dirty="0"/>
          </a:p>
        </p:txBody>
      </p:sp>
      <p:graphicFrame>
        <p:nvGraphicFramePr>
          <p:cNvPr id="6" name="Content Placeholder 5" descr="SmartArt">
            <a:extLst>
              <a:ext uri="{FF2B5EF4-FFF2-40B4-BE49-F238E27FC236}">
                <a16:creationId xmlns:a16="http://schemas.microsoft.com/office/drawing/2014/main" id="{31CB2812-349B-20E2-202A-3443281C6570}"/>
              </a:ext>
            </a:extLst>
          </p:cNvPr>
          <p:cNvGraphicFramePr>
            <a:graphicFrameLocks noGrp="1"/>
          </p:cNvGraphicFramePr>
          <p:nvPr>
            <p:ph idx="1"/>
            <p:extLst>
              <p:ext uri="{D42A27DB-BD31-4B8C-83A1-F6EECF244321}">
                <p14:modId xmlns:p14="http://schemas.microsoft.com/office/powerpoint/2010/main" val="52152058"/>
              </p:ext>
            </p:extLst>
          </p:nvPr>
        </p:nvGraphicFramePr>
        <p:xfrm>
          <a:off x="719570" y="2198254"/>
          <a:ext cx="7903222"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A9D481E8-A158-5FE4-DD46-1D8035755CF0}"/>
              </a:ext>
            </a:extLst>
          </p:cNvPr>
          <p:cNvSpPr txBox="1"/>
          <p:nvPr/>
        </p:nvSpPr>
        <p:spPr>
          <a:xfrm>
            <a:off x="885858" y="1732586"/>
            <a:ext cx="10219529" cy="369332"/>
          </a:xfrm>
          <a:prstGeom prst="rect">
            <a:avLst/>
          </a:prstGeom>
          <a:solidFill>
            <a:schemeClr val="tx1"/>
          </a:solidFill>
        </p:spPr>
        <p:txBody>
          <a:bodyPr wrap="none" rtlCol="0">
            <a:spAutoFit/>
          </a:bodyPr>
          <a:lstStyle/>
          <a:p>
            <a:r>
              <a:rPr lang="en-GB" dirty="0">
                <a:solidFill>
                  <a:schemeClr val="bg1"/>
                </a:solidFill>
              </a:rPr>
              <a:t>3-model hybrid multi-modal system to improve the accessibility, consistency and reliability of AES systems. </a:t>
            </a:r>
          </a:p>
        </p:txBody>
      </p:sp>
    </p:spTree>
    <p:extLst>
      <p:ext uri="{BB962C8B-B14F-4D97-AF65-F5344CB8AC3E}">
        <p14:creationId xmlns:p14="http://schemas.microsoft.com/office/powerpoint/2010/main" val="2786948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4BEF-5502-F64B-19AC-185935929502}"/>
              </a:ext>
            </a:extLst>
          </p:cNvPr>
          <p:cNvSpPr>
            <a:spLocks noGrp="1"/>
          </p:cNvSpPr>
          <p:nvPr>
            <p:ph type="title"/>
          </p:nvPr>
        </p:nvSpPr>
        <p:spPr/>
        <p:txBody>
          <a:bodyPr/>
          <a:lstStyle/>
          <a:p>
            <a:r>
              <a:rPr lang="en-US" dirty="0"/>
              <a:t>Sources </a:t>
            </a:r>
            <a:endParaRPr lang="en-GB" dirty="0"/>
          </a:p>
        </p:txBody>
      </p:sp>
      <p:sp>
        <p:nvSpPr>
          <p:cNvPr id="3" name="TextBox 2">
            <a:extLst>
              <a:ext uri="{FF2B5EF4-FFF2-40B4-BE49-F238E27FC236}">
                <a16:creationId xmlns:a16="http://schemas.microsoft.com/office/drawing/2014/main" id="{184E854E-2E52-4B33-54A6-DD4053F67BB5}"/>
              </a:ext>
            </a:extLst>
          </p:cNvPr>
          <p:cNvSpPr txBox="1"/>
          <p:nvPr/>
        </p:nvSpPr>
        <p:spPr>
          <a:xfrm>
            <a:off x="308474" y="1902286"/>
            <a:ext cx="11408038" cy="4801314"/>
          </a:xfrm>
          <a:prstGeom prst="rect">
            <a:avLst/>
          </a:prstGeom>
          <a:noFill/>
        </p:spPr>
        <p:txBody>
          <a:bodyPr wrap="square" rtlCol="0">
            <a:spAutoFit/>
          </a:bodyPr>
          <a:lstStyle/>
          <a:p>
            <a:r>
              <a:rPr lang="en-GB" dirty="0"/>
              <a:t>[1] P. Lagakis and S. </a:t>
            </a:r>
            <a:r>
              <a:rPr lang="en-GB" dirty="0" err="1"/>
              <a:t>Demetriadis</a:t>
            </a:r>
            <a:r>
              <a:rPr lang="en-GB" dirty="0"/>
              <a:t>, “Automated essay scoring: A review of the field,” in </a:t>
            </a:r>
            <a:r>
              <a:rPr lang="en-GB" i="1" dirty="0"/>
              <a:t>2021 International Conference on Computer, Information and Telecommunication Systems (CITS)</a:t>
            </a:r>
            <a:r>
              <a:rPr lang="en-GB" dirty="0"/>
              <a:t>, 2021, </a:t>
            </a:r>
            <a:r>
              <a:rPr lang="en-GB" dirty="0" err="1"/>
              <a:t>doi</a:t>
            </a:r>
            <a:r>
              <a:rPr lang="en-GB" dirty="0"/>
              <a:t>: 10.1109/CITS52676.2021.9618476.</a:t>
            </a:r>
          </a:p>
          <a:p>
            <a:r>
              <a:rPr lang="en-GB" dirty="0"/>
              <a:t>[2] I. M. G. S. Artha, A. S. Kusuma, and P. </a:t>
            </a:r>
            <a:r>
              <a:rPr lang="en-GB" dirty="0" err="1"/>
              <a:t>Sugiartawan</a:t>
            </a:r>
            <a:r>
              <a:rPr lang="en-GB" dirty="0"/>
              <a:t>, “A comparative study of semantic similarity, rubric-based, generative AI, and hybrid scoring methods for automated essay evaluation,” in </a:t>
            </a:r>
            <a:r>
              <a:rPr lang="en-GB" i="1" dirty="0"/>
              <a:t>2026 International Seminar on Intelligent Business and Edge-Computing Research (ISIBER)</a:t>
            </a:r>
            <a:r>
              <a:rPr lang="en-GB" dirty="0"/>
              <a:t>, 2026, </a:t>
            </a:r>
            <a:r>
              <a:rPr lang="en-GB" dirty="0" err="1"/>
              <a:t>doi</a:t>
            </a:r>
            <a:r>
              <a:rPr lang="en-GB" dirty="0"/>
              <a:t>: 10.1109/ISIBER68248.2026.11470541.</a:t>
            </a:r>
          </a:p>
          <a:p>
            <a:r>
              <a:rPr lang="en-GB" dirty="0"/>
              <a:t>[3] J. Yang, “Automated essay scoring in education,” in </a:t>
            </a:r>
            <a:r>
              <a:rPr lang="en-GB" i="1" dirty="0"/>
              <a:t>2024 4th International Conference on Educational Technology (ICET)</a:t>
            </a:r>
            <a:r>
              <a:rPr lang="en-GB" dirty="0"/>
              <a:t>, 2024, </a:t>
            </a:r>
            <a:r>
              <a:rPr lang="en-GB" dirty="0" err="1"/>
              <a:t>doi</a:t>
            </a:r>
            <a:r>
              <a:rPr lang="en-GB" dirty="0"/>
              <a:t>: 10.1109/ICET62460.2024.10868446.</a:t>
            </a:r>
          </a:p>
          <a:p>
            <a:r>
              <a:rPr lang="en-GB" dirty="0"/>
              <a:t>[4] K. S. S. Han and M. T. Myint, “A comparative study of LSTM, Bi-LSTM, and BERT for automated essay scoring,” in </a:t>
            </a:r>
            <a:r>
              <a:rPr lang="en-GB" i="1" dirty="0"/>
              <a:t>2024 5th International Conference on Advanced Information Technologies (ICAIT)</a:t>
            </a:r>
            <a:r>
              <a:rPr lang="en-GB" dirty="0"/>
              <a:t>, 2024, </a:t>
            </a:r>
            <a:r>
              <a:rPr lang="en-GB" dirty="0" err="1"/>
              <a:t>doi</a:t>
            </a:r>
            <a:r>
              <a:rPr lang="en-GB" dirty="0"/>
              <a:t>: 10.1109/ICAIT65209.2024.10754925.</a:t>
            </a:r>
          </a:p>
          <a:p>
            <a:r>
              <a:rPr lang="en-GB" dirty="0"/>
              <a:t>[5] W. Xu, R. Mahmud, and W. L. Hoo, “A systematic literature review: Are automated essay scoring systems competent in real-life education scenarios?” </a:t>
            </a:r>
            <a:r>
              <a:rPr lang="en-GB" i="1" dirty="0"/>
              <a:t>IEEE Access</a:t>
            </a:r>
            <a:r>
              <a:rPr lang="en-GB" dirty="0"/>
              <a:t>, vol. 12, pp. 66959–66984, 2024, </a:t>
            </a:r>
            <a:r>
              <a:rPr lang="en-GB" dirty="0" err="1"/>
              <a:t>doi</a:t>
            </a:r>
            <a:r>
              <a:rPr lang="en-GB" dirty="0"/>
              <a:t>: 10.1109/ACCESS.2024.3399163.</a:t>
            </a:r>
          </a:p>
          <a:p>
            <a:r>
              <a:rPr lang="en-GB" dirty="0"/>
              <a:t>[6] A. M. </a:t>
            </a:r>
            <a:r>
              <a:rPr lang="en-GB" dirty="0" err="1"/>
              <a:t>Elmassry</a:t>
            </a:r>
            <a:r>
              <a:rPr lang="en-GB" dirty="0"/>
              <a:t>, N. Zaki, N. Alsheikh, and M. </a:t>
            </a:r>
            <a:r>
              <a:rPr lang="en-GB" dirty="0" err="1"/>
              <a:t>Mediani</a:t>
            </a:r>
            <a:r>
              <a:rPr lang="en-GB" dirty="0"/>
              <a:t>, “A systematic review of pretrained models in automated essay scoring,” </a:t>
            </a:r>
            <a:r>
              <a:rPr lang="en-GB" i="1" dirty="0"/>
              <a:t>IEEE Access</a:t>
            </a:r>
            <a:r>
              <a:rPr lang="en-GB" dirty="0"/>
              <a:t>, vol. 13, pp. 113245–113268, 2025, </a:t>
            </a:r>
            <a:r>
              <a:rPr lang="en-GB" dirty="0" err="1"/>
              <a:t>doi</a:t>
            </a:r>
            <a:r>
              <a:rPr lang="en-GB" dirty="0"/>
              <a:t>: 10.1109/ACCESS.2025.3584784.</a:t>
            </a:r>
          </a:p>
          <a:p>
            <a:r>
              <a:rPr lang="en-GB" dirty="0"/>
              <a:t>[7] Huang </a:t>
            </a:r>
            <a:r>
              <a:rPr lang="en-GB" dirty="0" err="1"/>
              <a:t>Chimingyang</a:t>
            </a:r>
            <a:r>
              <a:rPr lang="en-GB" dirty="0"/>
              <a:t>, “An Automatic System for Essay Questions Scoring Based on LSTM and Word Embedding,” in </a:t>
            </a:r>
            <a:r>
              <a:rPr lang="en-GB" i="1" dirty="0"/>
              <a:t>Proceedings of the 2020 5th International Conference on Information Science, Computer Technology and Transportation (ISCTT)</a:t>
            </a:r>
            <a:r>
              <a:rPr lang="en-GB" dirty="0"/>
              <a:t>, 2020, </a:t>
            </a:r>
            <a:r>
              <a:rPr lang="en-GB" dirty="0" err="1"/>
              <a:t>doi</a:t>
            </a:r>
            <a:r>
              <a:rPr lang="en-GB" dirty="0"/>
              <a:t>: 10.1109/ISCTT51595.2020.00068.</a:t>
            </a:r>
          </a:p>
          <a:p>
            <a:endParaRPr lang="en-GB" dirty="0"/>
          </a:p>
        </p:txBody>
      </p:sp>
    </p:spTree>
    <p:extLst>
      <p:ext uri="{BB962C8B-B14F-4D97-AF65-F5344CB8AC3E}">
        <p14:creationId xmlns:p14="http://schemas.microsoft.com/office/powerpoint/2010/main" val="464367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0F87E73C-2B1A-4602-BFBE-CFE1E55D9B38}"/>
              </a:ext>
            </a:extLst>
          </p:cNvPr>
          <p:cNvSpPr>
            <a:spLocks noGrp="1" noRot="1" noMove="1" noResize="1" noEditPoints="1" noAdjustHandles="1" noChangeArrowheads="1" noChangeShapeType="1"/>
          </p:cNvSpPr>
          <p:nvPr>
            <p:ph type="ctrTitle"/>
          </p:nvPr>
        </p:nvSpPr>
        <p:spPr>
          <a:xfrm>
            <a:off x="8296275" y="1419226"/>
            <a:ext cx="3081576" cy="1746762"/>
          </a:xfrm>
        </p:spPr>
        <p:txBody>
          <a:bodyPr rtlCol="0">
            <a:normAutofit/>
          </a:bodyPr>
          <a:lstStyle/>
          <a:p>
            <a:pPr rtl="0"/>
            <a:r>
              <a:rPr lang="en-GB" dirty="0">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rtlCol="0">
            <a:normAutofit/>
          </a:bodyPr>
          <a:lstStyle/>
          <a:p>
            <a:pPr rtl="0"/>
            <a:endParaRPr lang="en-GB" dirty="0">
              <a:solidFill>
                <a:schemeClr val="bg2"/>
              </a:solidFill>
            </a:endParaRPr>
          </a:p>
          <a:p>
            <a:pPr rtl="0"/>
            <a:endParaRPr lang="en-GB" dirty="0">
              <a:solidFill>
                <a:schemeClr val="bg2"/>
              </a:solidFill>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9668_TF56390039_Win32" id="{9B435FBB-37EF-4CC2-A2AA-2D5176A76904}" vid="{B037E65D-0BE2-4226-856A-90D3BD06C5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Tech design</Template>
  <TotalTime>196</TotalTime>
  <Words>1178</Words>
  <Application>Microsoft Office PowerPoint</Application>
  <PresentationFormat>Widescreen</PresentationFormat>
  <Paragraphs>81</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Gill Sans MT</vt:lpstr>
      <vt:lpstr>Wingdings 2</vt:lpstr>
      <vt:lpstr>Dividend</vt:lpstr>
      <vt:lpstr>Project Proposal</vt:lpstr>
      <vt:lpstr>The pROBLEM(s)</vt:lpstr>
      <vt:lpstr>Proposed Solution</vt:lpstr>
      <vt:lpstr>Existing AES Research</vt:lpstr>
      <vt:lpstr>Gaps</vt:lpstr>
      <vt:lpstr>Proposed Architecture </vt:lpstr>
      <vt:lpstr>Sources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asa dorville</dc:creator>
  <cp:lastModifiedBy>asa dorville</cp:lastModifiedBy>
  <cp:revision>3</cp:revision>
  <dcterms:created xsi:type="dcterms:W3CDTF">2026-05-17T02:31:37Z</dcterms:created>
  <dcterms:modified xsi:type="dcterms:W3CDTF">2026-05-17T16:00:26Z</dcterms:modified>
</cp:coreProperties>
</file>